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80" r:id="rId3"/>
    <p:sldId id="281" r:id="rId4"/>
    <p:sldId id="283" r:id="rId5"/>
    <p:sldId id="260" r:id="rId6"/>
    <p:sldId id="279" r:id="rId7"/>
    <p:sldId id="269" r:id="rId8"/>
    <p:sldId id="261" r:id="rId9"/>
    <p:sldId id="273" r:id="rId10"/>
    <p:sldId id="274" r:id="rId11"/>
    <p:sldId id="262" r:id="rId12"/>
    <p:sldId id="263" r:id="rId13"/>
    <p:sldId id="276" r:id="rId14"/>
    <p:sldId id="275" r:id="rId15"/>
    <p:sldId id="264" r:id="rId16"/>
    <p:sldId id="265" r:id="rId17"/>
    <p:sldId id="282" r:id="rId18"/>
    <p:sldId id="277" r:id="rId19"/>
    <p:sldId id="267" r:id="rId20"/>
    <p:sldId id="257" r:id="rId21"/>
    <p:sldId id="258" r:id="rId22"/>
    <p:sldId id="266" r:id="rId23"/>
  </p:sldIdLst>
  <p:sldSz cx="12192000" cy="6858000"/>
  <p:notesSz cx="6858000" cy="9144000"/>
  <p:embeddedFontLst>
    <p:embeddedFont>
      <p:font typeface="Noto Sans KR" panose="020B0200000000000000" pitchFamily="50" charset="-127"/>
      <p:regular r:id="rId25"/>
      <p:bold r:id="rId26"/>
    </p:embeddedFont>
    <p:embeddedFont>
      <p:font typeface="Poppins" panose="000005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FE19FE0-7E50-4F79-8B4B-5D965F6DAC54}">
  <a:tblStyle styleId="{7FE19FE0-7E50-4F79-8B4B-5D965F6DAC5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288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D790D180-FD33-EF86-10E0-CDE355A2D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>
            <a:extLst>
              <a:ext uri="{FF2B5EF4-FFF2-40B4-BE49-F238E27FC236}">
                <a16:creationId xmlns:a16="http://schemas.microsoft.com/office/drawing/2014/main" id="{E589F6E5-4EE5-B775-8118-CA3BD48355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5:notes">
            <a:extLst>
              <a:ext uri="{FF2B5EF4-FFF2-40B4-BE49-F238E27FC236}">
                <a16:creationId xmlns:a16="http://schemas.microsoft.com/office/drawing/2014/main" id="{970E5332-1F8D-3EE3-F237-CF51AE5335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278932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>
          <a:extLst>
            <a:ext uri="{FF2B5EF4-FFF2-40B4-BE49-F238E27FC236}">
              <a16:creationId xmlns:a16="http://schemas.microsoft.com/office/drawing/2014/main" id="{C01578D6-65C7-512B-366A-C18172AA4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>
            <a:extLst>
              <a:ext uri="{FF2B5EF4-FFF2-40B4-BE49-F238E27FC236}">
                <a16:creationId xmlns:a16="http://schemas.microsoft.com/office/drawing/2014/main" id="{0ADAA17A-7692-1982-8930-1C95A9686F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7:notes">
            <a:extLst>
              <a:ext uri="{FF2B5EF4-FFF2-40B4-BE49-F238E27FC236}">
                <a16:creationId xmlns:a16="http://schemas.microsoft.com/office/drawing/2014/main" id="{49D4255E-9DA7-13F8-74BE-A69E3F27F6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81346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32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32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40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6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62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1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24250" y="3854648"/>
            <a:ext cx="2381250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3854648"/>
            <a:ext cx="2381250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571500" y="1252686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DATA MINING PROJECT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295275" y="2037457"/>
            <a:ext cx="11601450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도쿄</a:t>
            </a:r>
            <a:r>
              <a:rPr lang="en-US" sz="480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480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에어비앤비</a:t>
            </a:r>
            <a:r>
              <a:rPr lang="en-US" sz="480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480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가격</a:t>
            </a:r>
            <a:r>
              <a:rPr lang="en-US" sz="480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480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결정</a:t>
            </a:r>
            <a:r>
              <a:rPr lang="en-US" sz="480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480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요인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US" sz="4800" b="1" i="0" u="none" strike="noStrike" cap="none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데이터</a:t>
            </a:r>
            <a:r>
              <a:rPr lang="en-US" sz="48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4800" b="1" i="0" u="none" strike="noStrike" cap="none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기반</a:t>
            </a:r>
            <a:r>
              <a:rPr lang="en-US" sz="48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4800" b="1" i="0" u="none" strike="noStrike" cap="none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호스트</a:t>
            </a:r>
            <a:r>
              <a:rPr lang="en-US" sz="48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4800" b="1" i="0" u="none" strike="noStrike" cap="none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전략</a:t>
            </a:r>
            <a:r>
              <a:rPr lang="en-US" sz="48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4800" b="1" i="0" u="none" strike="noStrike" cap="none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수립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/>
        </p:nvSpPr>
        <p:spPr>
          <a:xfrm>
            <a:off x="762000" y="1524000"/>
            <a:ext cx="6400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왜 도쿄 에어비앤비인가?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762000" y="4769643"/>
            <a:ext cx="6400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분석 목적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95020" y="2057400"/>
            <a:ext cx="5972175" cy="787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37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일본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인바운드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관광객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2023년 2,507만 명 —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코로나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이후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급반등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도쿄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숙박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수요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폭증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995020" y="2897981"/>
            <a:ext cx="5972175" cy="787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37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에어비앤비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신규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호스트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진입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증가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—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그러나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가격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책정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기준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없이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감에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의존하는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현실</a:t>
            </a:r>
            <a:endParaRPr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995020" y="3738562"/>
            <a:ext cx="5972175" cy="787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37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정보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비대칭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문제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—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어느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위치에서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어떤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옵션을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갖춰야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수익이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나는지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기반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근거</a:t>
            </a:r>
            <a:r>
              <a:rPr lang="en-US" sz="15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부재</a:t>
            </a:r>
            <a:endParaRPr dirty="0"/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58075" y="1798099"/>
            <a:ext cx="3943350" cy="3561143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57200" y="365670"/>
            <a:ext cx="4319337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배경</a:t>
            </a:r>
            <a:r>
              <a:rPr lang="en-US" sz="440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및 </a:t>
            </a:r>
            <a:r>
              <a:rPr lang="en-US" sz="440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분석</a:t>
            </a:r>
            <a:r>
              <a:rPr lang="en-US" sz="440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440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목적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0764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917031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75761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F9B8408-87F1-7BC4-0FDB-39FED78EF5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0625" y="5150643"/>
            <a:ext cx="5285690" cy="1414395"/>
          </a:xfrm>
          <a:prstGeom prst="rect">
            <a:avLst/>
          </a:prstGeom>
        </p:spPr>
      </p:pic>
      <p:sp>
        <p:nvSpPr>
          <p:cNvPr id="6" name="Google Shape;107;p14">
            <a:extLst>
              <a:ext uri="{FF2B5EF4-FFF2-40B4-BE49-F238E27FC236}">
                <a16:creationId xmlns:a16="http://schemas.microsoft.com/office/drawing/2014/main" id="{B83438B3-6AC6-A555-D071-083932407C68}"/>
              </a:ext>
            </a:extLst>
          </p:cNvPr>
          <p:cNvSpPr txBox="1"/>
          <p:nvPr/>
        </p:nvSpPr>
        <p:spPr>
          <a:xfrm>
            <a:off x="1614487" y="5359242"/>
            <a:ext cx="4695825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＂</a:t>
            </a: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도쿄 </a:t>
            </a:r>
            <a:r>
              <a:rPr lang="ko-KR" alt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에어비앤비</a:t>
            </a: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가격 결정 요인을 분석하여</a:t>
            </a:r>
            <a:r>
              <a:rPr lang="en-US" altLang="ko-KR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제한된 자본을 </a:t>
            </a:r>
            <a:endParaRPr lang="en-US" altLang="ko-KR" sz="1350" b="0" i="0" u="none" strike="noStrike" cap="none" dirty="0">
              <a:solidFill>
                <a:srgbClr val="33415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    가진 신규 호스트가 수익을 극대화 할 수 있는 최적의</a:t>
            </a:r>
            <a:endParaRPr lang="en-US" altLang="ko-KR" sz="1350" dirty="0">
              <a:solidFill>
                <a:srgbClr val="33415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     </a:t>
            </a:r>
            <a:r>
              <a:rPr lang="ko-KR" altLang="en-US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입지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/</a:t>
            </a:r>
            <a:r>
              <a:rPr lang="ko-KR" altLang="en-US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시설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/</a:t>
            </a:r>
            <a:r>
              <a:rPr lang="ko-KR" altLang="en-US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운영 전력을 정량적으로 제시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"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524000"/>
            <a:ext cx="339715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7275" y="1524000"/>
            <a:ext cx="3397299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32700" y="1524000"/>
            <a:ext cx="339715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1057275" y="1819275"/>
            <a:ext cx="28066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① Inside Airbnb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1057275" y="2295525"/>
            <a:ext cx="2806600" cy="1584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99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• 출처: insideairbnb.com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99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• 수집 시점: 2024년 기준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99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• 원본 행 수: 약 17,000개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99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• 분석 사용: 12,222개 (2~4인용)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99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• 주요 변수: 가격, 수용인원, 편의시설, 평점, 호스트 정보, 위치 좌표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692550" y="1819275"/>
            <a:ext cx="280674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② 국토교통성 GIS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692550" y="2295525"/>
            <a:ext cx="2806749" cy="1159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출처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: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일본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국토</a:t>
            </a:r>
            <a:r>
              <a:rPr lang="ko-KR" alt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교통성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국토수치정보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•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: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전국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철도역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좌표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(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위경도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•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도쿄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권역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역 수: 662개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•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활용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: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최근접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역까지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거리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(m)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계산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•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방식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: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위경도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기반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유클리드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근사</a:t>
            </a:r>
            <a:endParaRPr dirty="0"/>
          </a:p>
        </p:txBody>
      </p:sp>
      <p:sp>
        <p:nvSpPr>
          <p:cNvPr id="121" name="Google Shape;121;p15"/>
          <p:cNvSpPr txBox="1"/>
          <p:nvPr/>
        </p:nvSpPr>
        <p:spPr>
          <a:xfrm>
            <a:off x="8327975" y="1819275"/>
            <a:ext cx="28066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③ 도쿄 공시지가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327975" y="2295525"/>
            <a:ext cx="2806600" cy="1159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출처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: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일본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국토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지가공시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•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단위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: 엔/㎡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•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커버리지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: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도쿄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47개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구·시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•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활용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: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숙소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위치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기준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nearest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매칭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•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목적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: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투자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비용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대비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수익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효율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산출</a:t>
            </a:r>
            <a:endParaRPr dirty="0"/>
          </a:p>
        </p:txBody>
      </p:sp>
      <p:sp>
        <p:nvSpPr>
          <p:cNvPr id="129" name="Google Shape;129;p15"/>
          <p:cNvSpPr txBox="1"/>
          <p:nvPr/>
        </p:nvSpPr>
        <p:spPr>
          <a:xfrm>
            <a:off x="457200" y="365670"/>
            <a:ext cx="3092116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데이터</a:t>
            </a:r>
            <a:r>
              <a:rPr lang="en-US" sz="440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440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소개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37CA702-4F75-F653-1EAE-DC16019644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854" y="4321305"/>
            <a:ext cx="3030439" cy="188163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089BCAA-B3A5-9D27-E2C8-1600BA0077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3848" y="4321305"/>
            <a:ext cx="3044152" cy="188163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C5FE7FD-A483-753C-8846-9EDCEE7A622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945" b="19390"/>
          <a:stretch>
            <a:fillRect/>
          </a:stretch>
        </p:blipFill>
        <p:spPr>
          <a:xfrm>
            <a:off x="8100544" y="4321305"/>
            <a:ext cx="3174602" cy="18816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3199655"/>
            <a:ext cx="11277600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" y="5085605"/>
            <a:ext cx="11277600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7200" y="1456580"/>
            <a:ext cx="2676525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24225" y="1456580"/>
            <a:ext cx="2676525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91250" y="1456580"/>
            <a:ext cx="2676525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58275" y="1456580"/>
            <a:ext cx="2676525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6750" y="3075830"/>
            <a:ext cx="218122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62000" y="3523505"/>
            <a:ext cx="1905000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708796" y="3509218"/>
            <a:ext cx="1905000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655592" y="3509218"/>
            <a:ext cx="1905000" cy="9429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657225" y="1656605"/>
            <a:ext cx="22764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01. 데이터 전처리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657225" y="2132855"/>
            <a:ext cx="22764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GIS 좌표 변환 및 이종 데이터 결합, 이상치 제거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3524250" y="1656605"/>
            <a:ext cx="22764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02. 모델링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3524250" y="2132855"/>
            <a:ext cx="22764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RF, GBM, Ridge 비교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RandomForest 채택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6391275" y="1656605"/>
            <a:ext cx="22764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03. 심층 분석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6391275" y="2132855"/>
            <a:ext cx="22764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변수 중요도 및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역 거리 시뮬레이션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9258300" y="1656605"/>
            <a:ext cx="22764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04. 전략 도출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9258300" y="2132855"/>
            <a:ext cx="22764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호스트 가이드라인 및 투자 스위트스팟 제안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942975" y="5285630"/>
            <a:ext cx="104965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GIS 결합:</a:t>
            </a:r>
            <a:r>
              <a:rPr lang="en-US" sz="14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각 숙소 좌표 기준 662개 역 중 최근접 역까지의 직선거리(m)를 계산하여 dist_to_station 변수 생성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942975" y="5590430"/>
            <a:ext cx="104965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지가 결합:</a:t>
            </a:r>
            <a:r>
              <a:rPr lang="en-US" sz="14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숙소 위치 기준 가장 가까운 공시지가 측정 포인트의 값을 land_price로 매칭 (Nearest Neighbor 방식)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914400" y="3675905"/>
            <a:ext cx="1600200" cy="199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99" b="1" i="0" u="none" strike="noStrike" cap="none" dirty="0">
                <a:solidFill>
                  <a:srgbClr val="3B82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Inside Airbnb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1123282" y="3923457"/>
            <a:ext cx="116309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숙소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위도·경도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/>
                <a:sym typeface="Calibri"/>
              </a:rPr>
            </a:br>
            <a:r>
              <a:rPr lang="en-US" sz="1100" b="0" i="0" u="none" strike="noStrike" cap="none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 12,222행 × 70개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08" name="Google Shape;108;p1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130748" y="3802856"/>
            <a:ext cx="114300" cy="12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3"/>
          <p:cNvSpPr txBox="1"/>
          <p:nvPr/>
        </p:nvSpPr>
        <p:spPr>
          <a:xfrm>
            <a:off x="2790291" y="3983831"/>
            <a:ext cx="849365" cy="30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9" b="1" i="0" u="none" strike="noStrike" cap="none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각 숙소와 </a:t>
            </a:r>
            <a:endParaRPr lang="en-US" altLang="ko-KR" sz="999" b="1" i="0" u="none" strike="noStrike" cap="none" dirty="0">
              <a:solidFill>
                <a:srgbClr val="94A3B8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9" b="1" i="0" u="none" strike="noStrike" cap="none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역 </a:t>
            </a:r>
            <a:r>
              <a:rPr lang="en-US" sz="999" b="1" i="0" u="none" strike="noStrike" cap="none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위경도</a:t>
            </a:r>
            <a:r>
              <a:rPr lang="en-US" sz="999" b="1" i="0" u="none" strike="noStrike" cap="none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 </a:t>
            </a:r>
            <a:r>
              <a:rPr lang="en-US" sz="999" b="1" i="0" u="none" strike="noStrike" cap="none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계산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3861196" y="3661618"/>
            <a:ext cx="1600200" cy="199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99" b="1" i="0" u="none" strike="noStrike" cap="none" dirty="0" err="1">
                <a:solidFill>
                  <a:srgbClr val="3B82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국토교통성</a:t>
            </a:r>
            <a:r>
              <a:rPr lang="en-US" sz="1299" b="1" i="0" u="none" strike="noStrike" cap="none" dirty="0">
                <a:solidFill>
                  <a:srgbClr val="3B82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 GIS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4069705" y="3947368"/>
            <a:ext cx="118303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역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위도·경도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 662개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/>
                <a:sym typeface="Calibri"/>
              </a:rPr>
            </a:br>
            <a:r>
              <a:rPr lang="en-US" sz="1100" b="0" i="0" u="none" strike="noStrike" cap="none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dist_to_station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12" name="Google Shape;112;p1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077545" y="3802856"/>
            <a:ext cx="114300" cy="12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3"/>
          <p:cNvSpPr txBox="1"/>
          <p:nvPr/>
        </p:nvSpPr>
        <p:spPr>
          <a:xfrm>
            <a:off x="5709939" y="3977431"/>
            <a:ext cx="868267" cy="30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99" b="1" i="0" u="none" strike="noStrike" cap="none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숙소와 공시지가</a:t>
            </a:r>
            <a:r>
              <a:rPr lang="en-US" sz="999" b="1" i="0" u="none" strike="noStrike" cap="none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최근접</a:t>
            </a:r>
            <a:r>
              <a:rPr lang="en-US" sz="999" b="1" i="0" u="none" strike="noStrike" cap="none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 </a:t>
            </a:r>
            <a:r>
              <a:rPr lang="en-US" sz="999" b="1" i="0" u="none" strike="noStrike" cap="none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매칭</a:t>
            </a:r>
            <a:endParaRPr lang="en-US" sz="999" b="1" i="0" u="none" strike="noStrike" cap="none" dirty="0">
              <a:solidFill>
                <a:srgbClr val="94A3B8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Times New Roman"/>
              <a:sym typeface="Times New Roman"/>
            </a:endParaRPr>
          </a:p>
        </p:txBody>
      </p:sp>
      <p:sp>
        <p:nvSpPr>
          <p:cNvPr id="114" name="Google Shape;114;p13"/>
          <p:cNvSpPr txBox="1"/>
          <p:nvPr/>
        </p:nvSpPr>
        <p:spPr>
          <a:xfrm>
            <a:off x="6807993" y="3656855"/>
            <a:ext cx="1600200" cy="199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99" b="1" i="0" u="none" strike="noStrike" cap="none" dirty="0" err="1">
                <a:solidFill>
                  <a:srgbClr val="3B82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도쿄</a:t>
            </a:r>
            <a:r>
              <a:rPr lang="en-US" sz="1299" b="1" i="0" u="none" strike="noStrike" cap="none" dirty="0">
                <a:solidFill>
                  <a:srgbClr val="3B82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 </a:t>
            </a:r>
            <a:r>
              <a:rPr lang="en-US" sz="1299" b="1" i="0" u="none" strike="noStrike" cap="none" dirty="0" err="1">
                <a:solidFill>
                  <a:srgbClr val="3B82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공시지가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5" name="Google Shape;115;p13"/>
          <p:cNvSpPr txBox="1"/>
          <p:nvPr/>
        </p:nvSpPr>
        <p:spPr>
          <a:xfrm>
            <a:off x="6978401" y="3942605"/>
            <a:ext cx="125938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구·시별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지가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포인트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/>
                <a:sym typeface="Calibri"/>
              </a:rPr>
            </a:br>
            <a:r>
              <a:rPr lang="en-US" sz="1100" b="0" i="0" u="none" strike="noStrike" cap="none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land_price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매칭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16" name="Google Shape;116;p1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962429" y="3802856"/>
            <a:ext cx="114300" cy="12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3"/>
          <p:cNvSpPr txBox="1"/>
          <p:nvPr/>
        </p:nvSpPr>
        <p:spPr>
          <a:xfrm>
            <a:off x="8756005" y="3977431"/>
            <a:ext cx="527149" cy="15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" b="1" i="0" u="none" strike="noStrike" cap="none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최종</a:t>
            </a:r>
            <a:r>
              <a:rPr lang="en-US" sz="999" b="1" i="0" u="none" strike="noStrike" cap="none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 </a:t>
            </a:r>
            <a:r>
              <a:rPr lang="en-US" sz="999" b="1" i="0" u="none" strike="noStrike" cap="none" dirty="0" err="1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병합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8" name="Google Shape;118;p13"/>
          <p:cNvSpPr txBox="1"/>
          <p:nvPr/>
        </p:nvSpPr>
        <p:spPr>
          <a:xfrm>
            <a:off x="752475" y="5285630"/>
            <a:ext cx="66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19" name="Google Shape;119;p13"/>
          <p:cNvSpPr txBox="1"/>
          <p:nvPr/>
        </p:nvSpPr>
        <p:spPr>
          <a:xfrm>
            <a:off x="752475" y="5590430"/>
            <a:ext cx="66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20" name="Google Shape;120;p13"/>
          <p:cNvSpPr txBox="1"/>
          <p:nvPr/>
        </p:nvSpPr>
        <p:spPr>
          <a:xfrm>
            <a:off x="457200" y="365670"/>
            <a:ext cx="11734800" cy="744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데이터</a:t>
            </a:r>
            <a:r>
              <a:rPr lang="en-US" sz="440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440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통합</a:t>
            </a:r>
            <a:r>
              <a:rPr lang="en-US" sz="440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및 </a:t>
            </a:r>
            <a:r>
              <a:rPr lang="en-US" sz="440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분석</a:t>
            </a:r>
            <a:r>
              <a:rPr lang="en-US" sz="440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440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프로세스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Google Shape;94;p13" descr="image.png">
            <a:extLst>
              <a:ext uri="{FF2B5EF4-FFF2-40B4-BE49-F238E27FC236}">
                <a16:creationId xmlns:a16="http://schemas.microsoft.com/office/drawing/2014/main" id="{6162669C-FCBB-5FC6-34A2-D81D3BB6CF40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398198" y="3523505"/>
            <a:ext cx="1905000" cy="9429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4;p13">
            <a:extLst>
              <a:ext uri="{FF2B5EF4-FFF2-40B4-BE49-F238E27FC236}">
                <a16:creationId xmlns:a16="http://schemas.microsoft.com/office/drawing/2014/main" id="{2622E919-2688-21D1-6936-1CDF1313AD0E}"/>
              </a:ext>
            </a:extLst>
          </p:cNvPr>
          <p:cNvSpPr txBox="1"/>
          <p:nvPr/>
        </p:nvSpPr>
        <p:spPr>
          <a:xfrm>
            <a:off x="9550598" y="3656855"/>
            <a:ext cx="1600200" cy="199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99" b="1" i="0" u="none" strike="noStrike" cap="none" dirty="0">
                <a:solidFill>
                  <a:srgbClr val="3B82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최종 분석 데이터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Google Shape;115;p13">
            <a:extLst>
              <a:ext uri="{FF2B5EF4-FFF2-40B4-BE49-F238E27FC236}">
                <a16:creationId xmlns:a16="http://schemas.microsoft.com/office/drawing/2014/main" id="{9585AF97-1A4B-94C7-0240-D7257DB086E6}"/>
              </a:ext>
            </a:extLst>
          </p:cNvPr>
          <p:cNvSpPr txBox="1"/>
          <p:nvPr/>
        </p:nvSpPr>
        <p:spPr>
          <a:xfrm>
            <a:off x="9711777" y="3937382"/>
            <a:ext cx="125938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u="none" strike="noStrike" cap="none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가격 </a:t>
            </a:r>
            <a:r>
              <a:rPr lang="en-US" altLang="ko-KR" sz="1100" b="0" i="0" u="none" strike="noStrike" cap="none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+ </a:t>
            </a:r>
            <a:r>
              <a:rPr lang="ko-KR" altLang="en-US" sz="1100" b="0" i="0" u="none" strike="noStrike" cap="none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위치 </a:t>
            </a:r>
            <a:r>
              <a:rPr lang="en-US" altLang="ko-KR" sz="11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+ </a:t>
            </a:r>
            <a:r>
              <a:rPr lang="ko-KR" altLang="en-US" sz="11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  <a:sym typeface="Times New Roman"/>
              </a:rPr>
              <a:t>지가 통합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5" name="Google Shape;165;p17"/>
          <p:cNvGraphicFramePr/>
          <p:nvPr>
            <p:extLst>
              <p:ext uri="{D42A27DB-BD31-4B8C-83A1-F6EECF244321}">
                <p14:modId xmlns:p14="http://schemas.microsoft.com/office/powerpoint/2010/main" val="1215075372"/>
              </p:ext>
            </p:extLst>
          </p:nvPr>
        </p:nvGraphicFramePr>
        <p:xfrm>
          <a:off x="6036884" y="2222896"/>
          <a:ext cx="5556113" cy="375287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474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1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0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 dirty="0" err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변수</a:t>
                      </a:r>
                      <a:r>
                        <a:rPr lang="en-US" sz="1400" b="1" i="0" u="none" strike="noStrike" cap="none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400" b="1" i="0" u="none" strike="noStrike" cap="none" dirty="0" err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그룹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 dirty="0" err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주요</a:t>
                      </a:r>
                      <a:r>
                        <a:rPr lang="en-US" sz="1400" b="1" i="0" u="none" strike="noStrike" cap="none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400" b="1" i="0" u="none" strike="noStrike" cap="none" dirty="0" err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변수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0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위치 (Location)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dist_to_station, dist_to_Tokyo, land_price 등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0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내부 스펙 (Spec)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accommodates, bedrooms, room_type, 편의시설 7종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0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리뷰 (Review)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review_scores_rating, cleanliness 등 7종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0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 dirty="0" err="1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호스트</a:t>
                      </a:r>
                      <a:r>
                        <a:rPr lang="en-US" sz="1400" b="1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(Host)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 err="1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host_is_superhost</a:t>
                      </a:r>
                      <a:r>
                        <a:rPr lang="en-US" sz="14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, </a:t>
                      </a:r>
                      <a:r>
                        <a:rPr lang="en-US" sz="1400" b="0" i="0" u="none" strike="noStrike" cap="none" dirty="0" err="1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response_rate</a:t>
                      </a:r>
                      <a:r>
                        <a:rPr lang="en-US" sz="14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, </a:t>
                      </a:r>
                      <a:r>
                        <a:rPr lang="en-US" sz="1400" b="0" i="0" u="none" strike="noStrike" cap="none" dirty="0" err="1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acceptance_rate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6" name="Google Shape;166;p17"/>
          <p:cNvSpPr txBox="1"/>
          <p:nvPr/>
        </p:nvSpPr>
        <p:spPr>
          <a:xfrm>
            <a:off x="762000" y="1524000"/>
            <a:ext cx="467588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Instance (</a:t>
            </a: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분석</a:t>
            </a: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단위</a:t>
            </a: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dirty="0"/>
          </a:p>
        </p:txBody>
      </p:sp>
      <p:sp>
        <p:nvSpPr>
          <p:cNvPr id="167" name="Google Shape;167;p17"/>
          <p:cNvSpPr txBox="1"/>
          <p:nvPr/>
        </p:nvSpPr>
        <p:spPr>
          <a:xfrm>
            <a:off x="762000" y="3286125"/>
            <a:ext cx="467588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Output (</a:t>
            </a: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예측</a:t>
            </a: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대상</a:t>
            </a: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dirty="0"/>
          </a:p>
        </p:txBody>
      </p:sp>
      <p:sp>
        <p:nvSpPr>
          <p:cNvPr id="168" name="Google Shape;168;p17"/>
          <p:cNvSpPr txBox="1"/>
          <p:nvPr/>
        </p:nvSpPr>
        <p:spPr>
          <a:xfrm>
            <a:off x="762000" y="4800600"/>
            <a:ext cx="467588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Task 유형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5823644" y="2953940"/>
            <a:ext cx="15202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7343923" y="2953940"/>
            <a:ext cx="40813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5823644" y="3818334"/>
            <a:ext cx="15202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7343923" y="3818334"/>
            <a:ext cx="40813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5823644" y="4398168"/>
            <a:ext cx="15202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7343923" y="4398168"/>
            <a:ext cx="40813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5823644" y="5262562"/>
            <a:ext cx="15202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7343923" y="5262562"/>
            <a:ext cx="40813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457200" y="365670"/>
            <a:ext cx="4990623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분석</a:t>
            </a:r>
            <a:r>
              <a:rPr lang="en-US" sz="440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Formulation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E4E05AD-E14B-AD4E-4FD2-4612774217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931115"/>
            <a:ext cx="4675882" cy="132889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A8D83D2-07AF-2AEE-DB34-90B3533437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1" y="3665969"/>
            <a:ext cx="4675882" cy="113463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D5F4390-9A8B-7546-5253-58E1178570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310" y="5180445"/>
            <a:ext cx="4627572" cy="1414395"/>
          </a:xfrm>
          <a:prstGeom prst="rect">
            <a:avLst/>
          </a:prstGeom>
        </p:spPr>
      </p:pic>
      <p:sp>
        <p:nvSpPr>
          <p:cNvPr id="5" name="Google Shape;107;p14">
            <a:extLst>
              <a:ext uri="{FF2B5EF4-FFF2-40B4-BE49-F238E27FC236}">
                <a16:creationId xmlns:a16="http://schemas.microsoft.com/office/drawing/2014/main" id="{5A82854D-E185-52F1-97B6-EC772BDBCEBB}"/>
              </a:ext>
            </a:extLst>
          </p:cNvPr>
          <p:cNvSpPr txBox="1"/>
          <p:nvPr/>
        </p:nvSpPr>
        <p:spPr>
          <a:xfrm>
            <a:off x="1127819" y="2222896"/>
            <a:ext cx="4695825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도쿄 </a:t>
            </a:r>
            <a:r>
              <a:rPr lang="ko-KR" alt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에에비앤비</a:t>
            </a: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숙소 </a:t>
            </a:r>
            <a:r>
              <a:rPr lang="en-US" altLang="ko-KR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개 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= instance / </a:t>
            </a:r>
            <a:r>
              <a:rPr lang="ko-KR" altLang="en-US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총 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12,222</a:t>
            </a:r>
            <a:r>
              <a:rPr lang="ko-KR" altLang="en-US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개 사용</a:t>
            </a:r>
            <a:endParaRPr lang="en-US" altLang="ko-KR" sz="1350" dirty="0">
              <a:solidFill>
                <a:srgbClr val="33415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dirty="0">
                <a:solidFill>
                  <a:srgbClr val="334155"/>
                </a:solidFill>
                <a:latin typeface="Noto Sans KR"/>
                <a:ea typeface="Noto Sans KR"/>
                <a:sym typeface="Noto Sans KR"/>
              </a:rPr>
              <a:t>범위 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sym typeface="Noto Sans KR"/>
              </a:rPr>
              <a:t>: 2~4</a:t>
            </a:r>
            <a:r>
              <a:rPr lang="ko-KR" altLang="en-US" sz="1350" dirty="0" err="1">
                <a:solidFill>
                  <a:srgbClr val="334155"/>
                </a:solidFill>
                <a:latin typeface="Noto Sans KR"/>
                <a:ea typeface="Noto Sans KR"/>
                <a:sym typeface="Noto Sans KR"/>
              </a:rPr>
              <a:t>인욕</a:t>
            </a:r>
            <a:r>
              <a:rPr lang="ko-KR" altLang="en-US" sz="1350" dirty="0">
                <a:solidFill>
                  <a:srgbClr val="334155"/>
                </a:solidFill>
                <a:latin typeface="Noto Sans KR"/>
                <a:ea typeface="Noto Sans KR"/>
                <a:sym typeface="Noto Sans KR"/>
              </a:rPr>
              <a:t> 숙소로 한정</a:t>
            </a:r>
            <a:endParaRPr dirty="0"/>
          </a:p>
        </p:txBody>
      </p:sp>
      <p:sp>
        <p:nvSpPr>
          <p:cNvPr id="6" name="Google Shape;107;p14">
            <a:extLst>
              <a:ext uri="{FF2B5EF4-FFF2-40B4-BE49-F238E27FC236}">
                <a16:creationId xmlns:a16="http://schemas.microsoft.com/office/drawing/2014/main" id="{E5D28E2A-CE62-50B1-ACBB-66CD9FA236FA}"/>
              </a:ext>
            </a:extLst>
          </p:cNvPr>
          <p:cNvSpPr txBox="1"/>
          <p:nvPr/>
        </p:nvSpPr>
        <p:spPr>
          <a:xfrm>
            <a:off x="1127819" y="3827859"/>
            <a:ext cx="4167662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박 가격</a:t>
            </a:r>
            <a:r>
              <a:rPr lang="en-US" altLang="ko-KR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ko-KR" altLang="en-US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엔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) – </a:t>
            </a:r>
            <a:r>
              <a:rPr lang="ko-KR" altLang="en-US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연속형 수치 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– </a:t>
            </a:r>
            <a:r>
              <a:rPr lang="ko-KR" altLang="en-US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회귀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(Regression)</a:t>
            </a:r>
            <a:r>
              <a:rPr lang="ko-KR" altLang="en-US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문제</a:t>
            </a:r>
            <a:endParaRPr lang="en-US" altLang="ko-KR" sz="1350" dirty="0">
              <a:solidFill>
                <a:srgbClr val="33415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dirty="0">
                <a:solidFill>
                  <a:srgbClr val="334155"/>
                </a:solidFill>
                <a:latin typeface="Noto Sans KR"/>
                <a:ea typeface="Noto Sans KR"/>
                <a:sym typeface="Noto Sans KR"/>
              </a:rPr>
              <a:t>로그 변환 후 예측 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sym typeface="Noto Sans KR"/>
              </a:rPr>
              <a:t>– </a:t>
            </a:r>
            <a:r>
              <a:rPr lang="ko-KR" altLang="en-US" sz="1350" dirty="0" err="1">
                <a:solidFill>
                  <a:srgbClr val="334155"/>
                </a:solidFill>
                <a:latin typeface="Noto Sans KR"/>
                <a:ea typeface="Noto Sans KR"/>
                <a:sym typeface="Noto Sans KR"/>
              </a:rPr>
              <a:t>역변환</a:t>
            </a:r>
            <a:r>
              <a:rPr lang="ko-KR" altLang="en-US" sz="1350" dirty="0">
                <a:solidFill>
                  <a:srgbClr val="334155"/>
                </a:solidFill>
                <a:latin typeface="Noto Sans KR"/>
                <a:ea typeface="Noto Sans KR"/>
                <a:sym typeface="Noto Sans KR"/>
              </a:rPr>
              <a:t> 도출 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sym typeface="Noto Sans KR"/>
              </a:rPr>
              <a:t>(log1p/expm1)</a:t>
            </a:r>
            <a:endParaRPr dirty="0"/>
          </a:p>
        </p:txBody>
      </p:sp>
      <p:sp>
        <p:nvSpPr>
          <p:cNvPr id="7" name="Google Shape;107;p14">
            <a:extLst>
              <a:ext uri="{FF2B5EF4-FFF2-40B4-BE49-F238E27FC236}">
                <a16:creationId xmlns:a16="http://schemas.microsoft.com/office/drawing/2014/main" id="{E3497C3E-2BB6-2B04-2B21-CA678DD124A2}"/>
              </a:ext>
            </a:extLst>
          </p:cNvPr>
          <p:cNvSpPr txBox="1"/>
          <p:nvPr/>
        </p:nvSpPr>
        <p:spPr>
          <a:xfrm>
            <a:off x="1127819" y="5471358"/>
            <a:ext cx="4695825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upervised Leaning – Regression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dirty="0">
                <a:solidFill>
                  <a:srgbClr val="334155"/>
                </a:solidFill>
                <a:latin typeface="Noto Sans KR"/>
                <a:ea typeface="Noto Sans KR"/>
                <a:sym typeface="Noto Sans KR"/>
              </a:rPr>
              <a:t>모델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sym typeface="Noto Sans KR"/>
              </a:rPr>
              <a:t>: </a:t>
            </a:r>
            <a:r>
              <a:rPr lang="en-US" altLang="ko-KR" sz="1350" dirty="0" err="1">
                <a:solidFill>
                  <a:srgbClr val="334155"/>
                </a:solidFill>
                <a:latin typeface="Noto Sans KR"/>
                <a:ea typeface="Noto Sans KR"/>
                <a:sym typeface="Noto Sans KR"/>
              </a:rPr>
              <a:t>RandomForest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sym typeface="Noto Sans KR"/>
              </a:rPr>
              <a:t> / </a:t>
            </a:r>
            <a:r>
              <a:rPr lang="en-US" altLang="ko-KR" sz="1350" dirty="0" err="1">
                <a:solidFill>
                  <a:srgbClr val="334155"/>
                </a:solidFill>
                <a:latin typeface="Noto Sans KR"/>
                <a:ea typeface="Noto Sans KR"/>
                <a:sym typeface="Noto Sans KR"/>
              </a:rPr>
              <a:t>GradientBoosting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sym typeface="Noto Sans KR"/>
              </a:rPr>
              <a:t> / Ridge </a:t>
            </a:r>
            <a:endParaRPr dirty="0"/>
          </a:p>
        </p:txBody>
      </p:sp>
      <p:sp>
        <p:nvSpPr>
          <p:cNvPr id="8" name="Google Shape;166;p17">
            <a:extLst>
              <a:ext uri="{FF2B5EF4-FFF2-40B4-BE49-F238E27FC236}">
                <a16:creationId xmlns:a16="http://schemas.microsoft.com/office/drawing/2014/main" id="{1E60E85A-238A-A880-FEAD-10CF94580030}"/>
              </a:ext>
            </a:extLst>
          </p:cNvPr>
          <p:cNvSpPr txBox="1"/>
          <p:nvPr/>
        </p:nvSpPr>
        <p:spPr>
          <a:xfrm>
            <a:off x="6096000" y="1552917"/>
            <a:ext cx="4675882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Input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7">
          <a:extLst>
            <a:ext uri="{FF2B5EF4-FFF2-40B4-BE49-F238E27FC236}">
              <a16:creationId xmlns:a16="http://schemas.microsoft.com/office/drawing/2014/main" id="{DFEFDFC0-E5C9-0F25-CA69-299271245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7" descr="image.png">
            <a:extLst>
              <a:ext uri="{FF2B5EF4-FFF2-40B4-BE49-F238E27FC236}">
                <a16:creationId xmlns:a16="http://schemas.microsoft.com/office/drawing/2014/main" id="{8334F7BF-6B8A-F5D2-5D47-C4AAB0E6DE0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>
            <a:extLst>
              <a:ext uri="{FF2B5EF4-FFF2-40B4-BE49-F238E27FC236}">
                <a16:creationId xmlns:a16="http://schemas.microsoft.com/office/drawing/2014/main" id="{AE84A471-E9E3-F602-65DD-E7BD7221045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09018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>
            <a:extLst>
              <a:ext uri="{FF2B5EF4-FFF2-40B4-BE49-F238E27FC236}">
                <a16:creationId xmlns:a16="http://schemas.microsoft.com/office/drawing/2014/main" id="{E10F6034-388C-84D1-E483-32961DF0497B}"/>
              </a:ext>
            </a:extLst>
          </p:cNvPr>
          <p:cNvSpPr txBox="1"/>
          <p:nvPr/>
        </p:nvSpPr>
        <p:spPr>
          <a:xfrm>
            <a:off x="582215" y="1997518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다중공선성</a:t>
            </a:r>
            <a:r>
              <a:rPr lang="ko-KR" alt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확인 및 제외 근거</a:t>
            </a:r>
            <a:endParaRPr dirty="0"/>
          </a:p>
        </p:txBody>
      </p:sp>
      <p:sp>
        <p:nvSpPr>
          <p:cNvPr id="161" name="Google Shape;161;p17">
            <a:extLst>
              <a:ext uri="{FF2B5EF4-FFF2-40B4-BE49-F238E27FC236}">
                <a16:creationId xmlns:a16="http://schemas.microsoft.com/office/drawing/2014/main" id="{1A74FE3B-071A-9855-D2F6-E30F5EB67E52}"/>
              </a:ext>
            </a:extLst>
          </p:cNvPr>
          <p:cNvSpPr txBox="1"/>
          <p:nvPr/>
        </p:nvSpPr>
        <p:spPr>
          <a:xfrm>
            <a:off x="714372" y="5622066"/>
            <a:ext cx="52863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신주쿠는 단순 이상치가 아닌 구조적 중복 문제로</a:t>
            </a:r>
            <a:r>
              <a:rPr lang="en-US" altLang="ko-KR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기반 근거</a:t>
            </a:r>
            <a:r>
              <a:rPr lang="en-US" altLang="ko-KR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(r=0.90)</a:t>
            </a: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를 통해 제외를 결정한 능동적 </a:t>
            </a:r>
            <a:r>
              <a:rPr lang="ko-KR" alt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전처리</a:t>
            </a: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의사결정</a:t>
            </a:r>
            <a:endParaRPr lang="en-US" sz="1350" b="0" i="0" u="none" strike="noStrike" cap="none" dirty="0">
              <a:solidFill>
                <a:srgbClr val="33415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3" name="Google Shape;163;p17">
            <a:extLst>
              <a:ext uri="{FF2B5EF4-FFF2-40B4-BE49-F238E27FC236}">
                <a16:creationId xmlns:a16="http://schemas.microsoft.com/office/drawing/2014/main" id="{321B9B45-E6BF-6FB2-C641-D68F5FF2B408}"/>
              </a:ext>
            </a:extLst>
          </p:cNvPr>
          <p:cNvSpPr txBox="1"/>
          <p:nvPr/>
        </p:nvSpPr>
        <p:spPr>
          <a:xfrm>
            <a:off x="857250" y="2691402"/>
            <a:ext cx="500062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altLang="ko-KR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1. </a:t>
            </a:r>
            <a:r>
              <a:rPr lang="ko-KR" alt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신주쿠</a:t>
            </a:r>
            <a:r>
              <a:rPr lang="en-US" altLang="ko-KR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-</a:t>
            </a:r>
            <a:r>
              <a:rPr lang="ko-KR" alt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시부야 거리 상관계수 </a:t>
            </a:r>
            <a:r>
              <a:rPr lang="en-US" altLang="ko-KR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0.90 </a:t>
            </a:r>
            <a:r>
              <a:rPr lang="ko-KR" altLang="en-US" sz="135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ㅡ</a:t>
            </a:r>
            <a:r>
              <a:rPr lang="ko-KR" altLang="en-US" sz="135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사실상 동일 생활권</a:t>
            </a:r>
            <a:r>
              <a:rPr lang="en-US" altLang="ko-KR" sz="135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sz="135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독립적 설명력 없음</a:t>
            </a:r>
            <a:endParaRPr dirty="0"/>
          </a:p>
        </p:txBody>
      </p:sp>
      <p:sp>
        <p:nvSpPr>
          <p:cNvPr id="164" name="Google Shape;164;p17">
            <a:extLst>
              <a:ext uri="{FF2B5EF4-FFF2-40B4-BE49-F238E27FC236}">
                <a16:creationId xmlns:a16="http://schemas.microsoft.com/office/drawing/2014/main" id="{1DA82DB3-4B8A-B35D-62E8-5C8D0C1AF802}"/>
              </a:ext>
            </a:extLst>
          </p:cNvPr>
          <p:cNvSpPr txBox="1"/>
          <p:nvPr/>
        </p:nvSpPr>
        <p:spPr>
          <a:xfrm>
            <a:off x="857248" y="3518771"/>
            <a:ext cx="500062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altLang="ko-KR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2. 3</a:t>
            </a:r>
            <a:r>
              <a:rPr lang="ko-KR" alt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개 데이터셋 병합 시 신주쿠</a:t>
            </a:r>
            <a:r>
              <a:rPr lang="en-US" altLang="ko-KR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,</a:t>
            </a:r>
            <a:r>
              <a:rPr lang="ko-KR" alt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시부야 일대 중복 숙소 과다 </a:t>
            </a:r>
            <a:r>
              <a:rPr lang="ko-KR" altLang="en-US" sz="135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ㅡ과대</a:t>
            </a:r>
            <a:r>
              <a:rPr lang="ko-KR" altLang="en-US" sz="135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대표로 모델 편향 유발</a:t>
            </a:r>
            <a:endParaRPr dirty="0"/>
          </a:p>
        </p:txBody>
      </p:sp>
      <p:sp>
        <p:nvSpPr>
          <p:cNvPr id="165" name="Google Shape;165;p17">
            <a:extLst>
              <a:ext uri="{FF2B5EF4-FFF2-40B4-BE49-F238E27FC236}">
                <a16:creationId xmlns:a16="http://schemas.microsoft.com/office/drawing/2014/main" id="{D6F4F711-4594-01C4-7E79-65FD19868A63}"/>
              </a:ext>
            </a:extLst>
          </p:cNvPr>
          <p:cNvSpPr txBox="1"/>
          <p:nvPr/>
        </p:nvSpPr>
        <p:spPr>
          <a:xfrm>
            <a:off x="857248" y="4346140"/>
            <a:ext cx="500062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3. </a:t>
            </a:r>
            <a:r>
              <a:rPr lang="ko-KR" alt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신주쿠역</a:t>
            </a:r>
            <a:r>
              <a:rPr lang="en-US" altLang="ko-KR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-</a:t>
            </a:r>
            <a:r>
              <a:rPr lang="ko-KR" altLang="en-US" sz="1350" b="1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시부야역</a:t>
            </a:r>
            <a:r>
              <a:rPr lang="ko-KR" alt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직선거리 약 </a:t>
            </a:r>
            <a:r>
              <a:rPr lang="en-US" altLang="ko-KR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2.5km </a:t>
            </a:r>
            <a:r>
              <a:rPr lang="en-US" altLang="ko-KR" sz="135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—</a:t>
            </a:r>
            <a:r>
              <a:rPr lang="en-US" altLang="ko-KR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실질 상권</a:t>
            </a:r>
            <a:r>
              <a:rPr lang="en-US" altLang="ko-KR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·</a:t>
            </a: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생활권이 겹쳐 별도 변수로서 의미 적음</a:t>
            </a:r>
            <a:endParaRPr dirty="0"/>
          </a:p>
        </p:txBody>
      </p:sp>
      <p:sp>
        <p:nvSpPr>
          <p:cNvPr id="167" name="Google Shape;167;p17">
            <a:extLst>
              <a:ext uri="{FF2B5EF4-FFF2-40B4-BE49-F238E27FC236}">
                <a16:creationId xmlns:a16="http://schemas.microsoft.com/office/drawing/2014/main" id="{0337E52A-705F-6BCC-5926-7C814E42C2E1}"/>
              </a:ext>
            </a:extLst>
          </p:cNvPr>
          <p:cNvSpPr txBox="1"/>
          <p:nvPr/>
        </p:nvSpPr>
        <p:spPr>
          <a:xfrm>
            <a:off x="762000" y="903535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데이터 </a:t>
            </a:r>
            <a:r>
              <a:rPr lang="ko-KR" alt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전처리</a:t>
            </a:r>
            <a:r>
              <a:rPr lang="ko-KR" alt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특이사항 </a:t>
            </a:r>
            <a:r>
              <a:rPr lang="en-US" altLang="ko-KR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— </a:t>
            </a:r>
            <a:r>
              <a:rPr lang="ko-KR" alt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신주쿠와의 거리 변수 제외</a:t>
            </a:r>
            <a:endParaRPr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4FAC9DD-0F3B-0D29-1AE9-6670CCE1A9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4994" y="1688009"/>
            <a:ext cx="5411066" cy="487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764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02631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357116"/>
            <a:ext cx="5286375" cy="262696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6334125" y="2084635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예측력</a:t>
            </a: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확보</a:t>
            </a: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(R²=0.68)</a:t>
            </a:r>
            <a:endParaRPr dirty="0"/>
          </a:p>
        </p:txBody>
      </p:sp>
      <p:sp>
        <p:nvSpPr>
          <p:cNvPr id="142" name="Google Shape;142;p16"/>
          <p:cNvSpPr txBox="1"/>
          <p:nvPr/>
        </p:nvSpPr>
        <p:spPr>
          <a:xfrm>
            <a:off x="6334125" y="2637085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단순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선형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회귀보다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비선형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관계를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잘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포착하는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RandomForest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모델이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가장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우수한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성적을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기록했습니다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/>
          </a:p>
        </p:txBody>
      </p:sp>
      <p:sp>
        <p:nvSpPr>
          <p:cNvPr id="143" name="Google Shape;143;p16"/>
          <p:cNvSpPr txBox="1"/>
          <p:nvPr/>
        </p:nvSpPr>
        <p:spPr>
          <a:xfrm>
            <a:off x="6334125" y="6126956"/>
            <a:ext cx="528637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분류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모델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검증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결과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고가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및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중가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숙소의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예측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정확도가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특히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높게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나타남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</a:p>
          <a:p>
            <a:pPr marL="171450" marR="0" lvl="0" indent="-17145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"5-Fold </a:t>
            </a:r>
            <a:r>
              <a:rPr lang="ko-KR" alt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교차검증으로 </a:t>
            </a:r>
            <a:r>
              <a:rPr lang="ko-KR" alt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과적합</a:t>
            </a:r>
            <a:r>
              <a:rPr lang="ko-KR" alt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여부 확인 </a:t>
            </a:r>
            <a:r>
              <a:rPr lang="en-US" altLang="ko-KR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— Train/Test </a:t>
            </a:r>
            <a:r>
              <a:rPr lang="ko-KR" alt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성능 차이 안정적</a:t>
            </a:r>
            <a:r>
              <a:rPr lang="en-US" altLang="ko-KR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"</a:t>
            </a:r>
            <a:endParaRPr lang="en-US" sz="1050" b="0" i="0" u="none" strike="noStrike" cap="none" dirty="0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6629400" y="3685726"/>
            <a:ext cx="46958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주요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1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지표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:</a:t>
            </a:r>
            <a:endParaRPr dirty="0"/>
          </a:p>
        </p:txBody>
      </p:sp>
      <p:graphicFrame>
        <p:nvGraphicFramePr>
          <p:cNvPr id="145" name="Google Shape;145;p16"/>
          <p:cNvGraphicFramePr/>
          <p:nvPr>
            <p:extLst>
              <p:ext uri="{D42A27DB-BD31-4B8C-83A1-F6EECF244321}">
                <p14:modId xmlns:p14="http://schemas.microsoft.com/office/powerpoint/2010/main" val="201750968"/>
              </p:ext>
            </p:extLst>
          </p:nvPr>
        </p:nvGraphicFramePr>
        <p:xfrm>
          <a:off x="6754091" y="4102891"/>
          <a:ext cx="3596488" cy="1585917"/>
        </p:xfrm>
        <a:graphic>
          <a:graphicData uri="http://schemas.openxmlformats.org/drawingml/2006/table">
            <a:tbl>
              <a:tblPr>
                <a:noFill/>
                <a:tableStyleId>{7FE19FE0-7E50-4F79-8B4B-5D965F6DAC54}</a:tableStyleId>
              </a:tblPr>
              <a:tblGrid>
                <a:gridCol w="1450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5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863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Ridge (L2)</a:t>
                      </a:r>
                      <a:endParaRPr dirty="0"/>
                    </a:p>
                  </a:txBody>
                  <a:tcPr marL="63500" marR="635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0.47     </a:t>
                      </a:r>
                      <a:r>
                        <a:rPr lang="ko-KR" altLang="en-US" sz="12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선형관계만 포착</a:t>
                      </a:r>
                      <a:endParaRPr dirty="0"/>
                    </a:p>
                  </a:txBody>
                  <a:tcPr marL="63500" marR="635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63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Gradient Boosting</a:t>
                      </a:r>
                      <a:endParaRPr dirty="0"/>
                    </a:p>
                  </a:txBody>
                  <a:tcPr marL="63500" marR="635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0.60     </a:t>
                      </a:r>
                      <a:r>
                        <a:rPr lang="ko-KR" altLang="en-US" sz="12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순차학습</a:t>
                      </a:r>
                      <a:r>
                        <a:rPr lang="en-US" altLang="ko-KR" sz="12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, </a:t>
                      </a:r>
                      <a:r>
                        <a:rPr lang="ko-KR" altLang="en-US" sz="12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느림</a:t>
                      </a:r>
                      <a:endParaRPr dirty="0"/>
                    </a:p>
                  </a:txBody>
                  <a:tcPr marL="63500" marR="635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63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3B82F6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Random Forest</a:t>
                      </a:r>
                      <a:endParaRPr dirty="0"/>
                    </a:p>
                  </a:txBody>
                  <a:tcPr marL="63500" marR="635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3B82F6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0.68      </a:t>
                      </a:r>
                      <a:r>
                        <a:rPr lang="ko-KR" altLang="en-US" sz="1200" b="1" i="0" u="none" strike="noStrike" cap="none" dirty="0">
                          <a:solidFill>
                            <a:srgbClr val="3B82F6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최종채택</a:t>
                      </a:r>
                      <a:endParaRPr dirty="0"/>
                    </a:p>
                  </a:txBody>
                  <a:tcPr marL="63500" marR="635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6" name="Google Shape;146;p16"/>
          <p:cNvSpPr/>
          <p:nvPr/>
        </p:nvSpPr>
        <p:spPr>
          <a:xfrm>
            <a:off x="6629400" y="4741068"/>
            <a:ext cx="33861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10015537" y="4741068"/>
            <a:ext cx="13096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6629400" y="5207793"/>
            <a:ext cx="33861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10015537" y="5207793"/>
            <a:ext cx="13096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6629400" y="5674518"/>
            <a:ext cx="33861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10015537" y="5674518"/>
            <a:ext cx="13096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762000" y="903535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모델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성능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및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검증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(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RandomForest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)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F24F275-6E14-B8CB-BCC7-877C0D7B30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476" y="2002631"/>
            <a:ext cx="5286375" cy="433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871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568" y="1909018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597771"/>
            <a:ext cx="2571750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48750" y="3597771"/>
            <a:ext cx="2571750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893171"/>
            <a:ext cx="2571750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48750" y="4893171"/>
            <a:ext cx="2571750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6334125" y="2325290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압도적인</a:t>
            </a: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입지의</a:t>
            </a: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가치</a:t>
            </a: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(49.6%)</a:t>
            </a:r>
            <a:endParaRPr dirty="0"/>
          </a:p>
        </p:txBody>
      </p:sp>
      <p:sp>
        <p:nvSpPr>
          <p:cNvPr id="185" name="Google Shape;185;p18"/>
          <p:cNvSpPr txBox="1"/>
          <p:nvPr/>
        </p:nvSpPr>
        <p:spPr>
          <a:xfrm>
            <a:off x="6334125" y="2877740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변수를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성격별로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5개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그룹으로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묶어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분석한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결과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입지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조건이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가격의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절반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이상을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설명합니다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/>
          </a:p>
        </p:txBody>
      </p:sp>
      <p:sp>
        <p:nvSpPr>
          <p:cNvPr id="186" name="Google Shape;186;p18"/>
          <p:cNvSpPr txBox="1"/>
          <p:nvPr/>
        </p:nvSpPr>
        <p:spPr>
          <a:xfrm>
            <a:off x="6524625" y="3788271"/>
            <a:ext cx="2190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49.6%</a:t>
            </a:r>
            <a:endParaRPr dirty="0"/>
          </a:p>
        </p:txBody>
      </p:sp>
      <p:sp>
        <p:nvSpPr>
          <p:cNvPr id="187" name="Google Shape;187;p18"/>
          <p:cNvSpPr txBox="1"/>
          <p:nvPr/>
        </p:nvSpPr>
        <p:spPr>
          <a:xfrm>
            <a:off x="6524625" y="4359771"/>
            <a:ext cx="2190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위치 (Location)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9239250" y="3788271"/>
            <a:ext cx="2190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21.0%</a:t>
            </a:r>
            <a:endParaRPr dirty="0"/>
          </a:p>
        </p:txBody>
      </p:sp>
      <p:sp>
        <p:nvSpPr>
          <p:cNvPr id="189" name="Google Shape;189;p18"/>
          <p:cNvSpPr txBox="1"/>
          <p:nvPr/>
        </p:nvSpPr>
        <p:spPr>
          <a:xfrm>
            <a:off x="9239250" y="4359771"/>
            <a:ext cx="2190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내부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스펙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(Spec)</a:t>
            </a:r>
            <a:endParaRPr dirty="0"/>
          </a:p>
        </p:txBody>
      </p:sp>
      <p:sp>
        <p:nvSpPr>
          <p:cNvPr id="190" name="Google Shape;190;p18"/>
          <p:cNvSpPr txBox="1"/>
          <p:nvPr/>
        </p:nvSpPr>
        <p:spPr>
          <a:xfrm>
            <a:off x="6524625" y="5083671"/>
            <a:ext cx="2190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13.1%</a:t>
            </a:r>
            <a:endParaRPr dirty="0"/>
          </a:p>
        </p:txBody>
      </p:sp>
      <p:sp>
        <p:nvSpPr>
          <p:cNvPr id="191" name="Google Shape;191;p18"/>
          <p:cNvSpPr txBox="1"/>
          <p:nvPr/>
        </p:nvSpPr>
        <p:spPr>
          <a:xfrm>
            <a:off x="6524625" y="5655171"/>
            <a:ext cx="2190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리뷰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평점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(Review)</a:t>
            </a:r>
            <a:endParaRPr dirty="0"/>
          </a:p>
        </p:txBody>
      </p:sp>
      <p:sp>
        <p:nvSpPr>
          <p:cNvPr id="192" name="Google Shape;192;p18"/>
          <p:cNvSpPr txBox="1"/>
          <p:nvPr/>
        </p:nvSpPr>
        <p:spPr>
          <a:xfrm>
            <a:off x="9239250" y="5083671"/>
            <a:ext cx="2190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9.2%</a:t>
            </a:r>
            <a:endParaRPr dirty="0"/>
          </a:p>
        </p:txBody>
      </p:sp>
      <p:sp>
        <p:nvSpPr>
          <p:cNvPr id="193" name="Google Shape;193;p18"/>
          <p:cNvSpPr txBox="1"/>
          <p:nvPr/>
        </p:nvSpPr>
        <p:spPr>
          <a:xfrm>
            <a:off x="9239250" y="5655171"/>
            <a:ext cx="2190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호스트 속성 (Host)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762000" y="903535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위치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vs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내부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조건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: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무엇이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더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중요한가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?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C7A474E-52A9-8388-47A7-B6017E1189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2675" y="1909018"/>
            <a:ext cx="5938575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9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09018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571500" y="2700635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개별 변수 영향력 분석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571500" y="4950321"/>
            <a:ext cx="52863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Top 20 변수 중 %가 역 거리 변수 — 입지가 가격의 핵심 결정자</a:t>
            </a:r>
          </a:p>
        </p:txBody>
      </p:sp>
      <p:sp>
        <p:nvSpPr>
          <p:cNvPr id="163" name="Google Shape;163;p17"/>
          <p:cNvSpPr txBox="1"/>
          <p:nvPr/>
        </p:nvSpPr>
        <p:spPr>
          <a:xfrm>
            <a:off x="857250" y="3253085"/>
            <a:ext cx="50006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1위: </a:t>
            </a:r>
            <a:r>
              <a:rPr lang="ko-KR" alt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도</a:t>
            </a:r>
            <a:r>
              <a:rPr lang="ko-KR" altLang="en-US" sz="1350" b="1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쿄</a:t>
            </a:r>
            <a:r>
              <a:rPr lang="en-US" sz="1350" b="1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역까지의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1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거리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—</a:t>
            </a:r>
            <a:r>
              <a:rPr lang="en-US" altLang="ko-KR" sz="1350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비즈니스·환승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altLang="ko-KR" sz="1350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거점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altLang="ko-KR" sz="1350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연중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altLang="ko-KR" sz="1350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안정적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altLang="ko-KR" sz="1350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수요</a:t>
            </a:r>
            <a:endParaRPr dirty="0"/>
          </a:p>
        </p:txBody>
      </p:sp>
      <p:sp>
        <p:nvSpPr>
          <p:cNvPr id="164" name="Google Shape;164;p17"/>
          <p:cNvSpPr txBox="1"/>
          <p:nvPr/>
        </p:nvSpPr>
        <p:spPr>
          <a:xfrm>
            <a:off x="857250" y="3646437"/>
            <a:ext cx="50006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2위: </a:t>
            </a:r>
            <a:r>
              <a:rPr lang="ko-KR" altLang="en-US" sz="1350" b="1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시부야</a:t>
            </a:r>
            <a:r>
              <a:rPr lang="en-US" sz="1350" b="1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역까지의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거리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— </a:t>
            </a:r>
            <a:r>
              <a:rPr lang="en-US" altLang="ko-KR" sz="1350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관광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altLang="ko-KR" sz="1350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수요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altLang="ko-KR" sz="1350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집중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altLang="ko-KR" sz="1350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접근성이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altLang="ko-KR" sz="1350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가격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altLang="ko-KR" sz="1350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프리미엄</a:t>
            </a:r>
            <a:r>
              <a:rPr lang="en-US" altLang="ko-KR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dirty="0"/>
          </a:p>
        </p:txBody>
      </p:sp>
      <p:sp>
        <p:nvSpPr>
          <p:cNvPr id="165" name="Google Shape;165;p17"/>
          <p:cNvSpPr txBox="1"/>
          <p:nvPr/>
        </p:nvSpPr>
        <p:spPr>
          <a:xfrm>
            <a:off x="857250" y="4087415"/>
            <a:ext cx="50006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3위: 수용 인원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— 인원 증가 시 가격 상승, 그룹 수요 프리미엄</a:t>
            </a:r>
            <a:endParaRPr dirty="0"/>
          </a:p>
        </p:txBody>
      </p:sp>
      <p:sp>
        <p:nvSpPr>
          <p:cNvPr id="166" name="Google Shape;166;p17"/>
          <p:cNvSpPr txBox="1"/>
          <p:nvPr/>
        </p:nvSpPr>
        <p:spPr>
          <a:xfrm>
            <a:off x="857250" y="4504580"/>
            <a:ext cx="50006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r>
              <a:rPr lang="ko-KR" alt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위</a:t>
            </a:r>
            <a:r>
              <a:rPr lang="en-US" altLang="ko-KR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: </a:t>
            </a:r>
            <a:r>
              <a:rPr lang="ko-KR" alt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공시지가 </a:t>
            </a:r>
            <a:r>
              <a:rPr lang="en-US" altLang="ko-KR" sz="135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— </a:t>
            </a:r>
            <a:r>
              <a:rPr lang="ko-KR" altLang="en-US" sz="135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땅값이 비쌀수록 숙박가격도 높다</a:t>
            </a:r>
            <a:endParaRPr dirty="0"/>
          </a:p>
        </p:txBody>
      </p:sp>
      <p:sp>
        <p:nvSpPr>
          <p:cNvPr id="167" name="Google Shape;167;p17"/>
          <p:cNvSpPr txBox="1"/>
          <p:nvPr/>
        </p:nvSpPr>
        <p:spPr>
          <a:xfrm>
            <a:off x="762000" y="903535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가격을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결정하는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핵심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요인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Top 20</a:t>
            </a:r>
            <a:endParaRPr dirty="0"/>
          </a:p>
        </p:txBody>
      </p:sp>
      <p:pic>
        <p:nvPicPr>
          <p:cNvPr id="169" name="Google Shape;16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327350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741686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58411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0951" y="4552805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98E7700-4227-4AB5-8E56-DDFDB441F6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6306" y="1907679"/>
            <a:ext cx="6202012" cy="4721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584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9">
          <a:extLst>
            <a:ext uri="{FF2B5EF4-FFF2-40B4-BE49-F238E27FC236}">
              <a16:creationId xmlns:a16="http://schemas.microsoft.com/office/drawing/2014/main" id="{05E1DF1F-845D-FEC4-269A-D741788AF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9" descr="image.png">
            <a:extLst>
              <a:ext uri="{FF2B5EF4-FFF2-40B4-BE49-F238E27FC236}">
                <a16:creationId xmlns:a16="http://schemas.microsoft.com/office/drawing/2014/main" id="{CB90CB92-4917-9E69-FCA0-59A55DC384C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 descr="image.png">
            <a:extLst>
              <a:ext uri="{FF2B5EF4-FFF2-40B4-BE49-F238E27FC236}">
                <a16:creationId xmlns:a16="http://schemas.microsoft.com/office/drawing/2014/main" id="{5EED5032-7440-3EBA-30ED-ABDF7E4A6D8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09018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9" descr="image.png">
            <a:extLst>
              <a:ext uri="{FF2B5EF4-FFF2-40B4-BE49-F238E27FC236}">
                <a16:creationId xmlns:a16="http://schemas.microsoft.com/office/drawing/2014/main" id="{7A3995E4-BCA2-7C22-6D8C-D0B77209197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707477"/>
            <a:ext cx="5286375" cy="120774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>
            <a:extLst>
              <a:ext uri="{FF2B5EF4-FFF2-40B4-BE49-F238E27FC236}">
                <a16:creationId xmlns:a16="http://schemas.microsoft.com/office/drawing/2014/main" id="{FD423D9D-629E-7109-9812-F6712519A5FF}"/>
              </a:ext>
            </a:extLst>
          </p:cNvPr>
          <p:cNvSpPr txBox="1"/>
          <p:nvPr/>
        </p:nvSpPr>
        <p:spPr>
          <a:xfrm>
            <a:off x="571500" y="1779764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100" b="1" dirty="0">
                <a:solidFill>
                  <a:srgbClr val="3B82F6"/>
                </a:solidFill>
                <a:latin typeface="Noto Sans KR"/>
                <a:ea typeface="Noto Sans KR"/>
                <a:sym typeface="Noto Sans KR"/>
              </a:rPr>
              <a:t>지역별 평균 숙소 가격 지도</a:t>
            </a:r>
            <a:endParaRPr dirty="0"/>
          </a:p>
        </p:txBody>
      </p:sp>
      <p:sp>
        <p:nvSpPr>
          <p:cNvPr id="206" name="Google Shape;206;p19">
            <a:extLst>
              <a:ext uri="{FF2B5EF4-FFF2-40B4-BE49-F238E27FC236}">
                <a16:creationId xmlns:a16="http://schemas.microsoft.com/office/drawing/2014/main" id="{F982DAC9-9E2E-2C5A-E5D3-27E49430A2E0}"/>
              </a:ext>
            </a:extLst>
          </p:cNvPr>
          <p:cNvSpPr txBox="1"/>
          <p:nvPr/>
        </p:nvSpPr>
        <p:spPr>
          <a:xfrm>
            <a:off x="866775" y="2616845"/>
            <a:ext cx="500062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334155"/>
                </a:solidFill>
                <a:latin typeface="Noto Sans KR"/>
                <a:ea typeface="Noto Sans KR"/>
                <a:sym typeface="Noto Sans KR"/>
              </a:rPr>
              <a:t>최고가 지역은 최저가 대비 약 </a:t>
            </a:r>
            <a:r>
              <a:rPr lang="en-US" altLang="ko-KR" sz="1350" b="1" dirty="0">
                <a:solidFill>
                  <a:srgbClr val="334155"/>
                </a:solidFill>
                <a:latin typeface="Noto Sans KR"/>
                <a:ea typeface="Noto Sans KR"/>
                <a:sym typeface="Noto Sans KR"/>
              </a:rPr>
              <a:t>2.7</a:t>
            </a:r>
            <a:r>
              <a:rPr lang="ko-KR" altLang="en-US" sz="1350" b="1" dirty="0">
                <a:solidFill>
                  <a:srgbClr val="334155"/>
                </a:solidFill>
                <a:latin typeface="Noto Sans KR"/>
                <a:ea typeface="Noto Sans KR"/>
                <a:sym typeface="Noto Sans KR"/>
              </a:rPr>
              <a:t>배</a:t>
            </a:r>
            <a:endParaRPr dirty="0"/>
          </a:p>
        </p:txBody>
      </p:sp>
      <p:sp>
        <p:nvSpPr>
          <p:cNvPr id="207" name="Google Shape;207;p19">
            <a:extLst>
              <a:ext uri="{FF2B5EF4-FFF2-40B4-BE49-F238E27FC236}">
                <a16:creationId xmlns:a16="http://schemas.microsoft.com/office/drawing/2014/main" id="{D437964D-D404-33BE-DC9D-F46DB0BFE0B1}"/>
              </a:ext>
            </a:extLst>
          </p:cNvPr>
          <p:cNvSpPr txBox="1"/>
          <p:nvPr/>
        </p:nvSpPr>
        <p:spPr>
          <a:xfrm>
            <a:off x="866774" y="3212032"/>
            <a:ext cx="500062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ko-KR" altLang="en-US" b="1" dirty="0">
                <a:solidFill>
                  <a:srgbClr val="334155"/>
                </a:solidFill>
                <a:latin typeface="Noto Sans KR"/>
                <a:ea typeface="Noto Sans KR"/>
                <a:sym typeface="Noto Sans KR"/>
              </a:rPr>
              <a:t>고가 지역은 도심 동남부에 집중</a:t>
            </a:r>
            <a:endParaRPr lang="ko-KR" altLang="en-US" dirty="0"/>
          </a:p>
        </p:txBody>
      </p:sp>
      <p:sp>
        <p:nvSpPr>
          <p:cNvPr id="208" name="Google Shape;208;p19">
            <a:extLst>
              <a:ext uri="{FF2B5EF4-FFF2-40B4-BE49-F238E27FC236}">
                <a16:creationId xmlns:a16="http://schemas.microsoft.com/office/drawing/2014/main" id="{42C8DBD5-74A3-7A9B-425B-E5E39564BD2E}"/>
              </a:ext>
            </a:extLst>
          </p:cNvPr>
          <p:cNvSpPr txBox="1"/>
          <p:nvPr/>
        </p:nvSpPr>
        <p:spPr>
          <a:xfrm>
            <a:off x="846533" y="3826631"/>
            <a:ext cx="50006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외곽</a:t>
            </a:r>
            <a:r>
              <a:rPr lang="en-US" altLang="ko-KR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ko-KR" alt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서쪽</a:t>
            </a:r>
            <a:r>
              <a:rPr lang="en-US" altLang="ko-KR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r>
              <a:rPr lang="ko-KR" alt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으로 갈수록 가격 급락</a:t>
            </a:r>
            <a:endParaRPr dirty="0"/>
          </a:p>
        </p:txBody>
      </p:sp>
      <p:sp>
        <p:nvSpPr>
          <p:cNvPr id="209" name="Google Shape;209;p19">
            <a:extLst>
              <a:ext uri="{FF2B5EF4-FFF2-40B4-BE49-F238E27FC236}">
                <a16:creationId xmlns:a16="http://schemas.microsoft.com/office/drawing/2014/main" id="{53F9FFF9-B046-3B53-B3C4-0B6F2F77A96E}"/>
              </a:ext>
            </a:extLst>
          </p:cNvPr>
          <p:cNvSpPr txBox="1"/>
          <p:nvPr/>
        </p:nvSpPr>
        <p:spPr>
          <a:xfrm>
            <a:off x="846533" y="5138992"/>
            <a:ext cx="469582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3B82F6"/>
                </a:solidFill>
                <a:latin typeface="Noto Sans KR"/>
                <a:ea typeface="Noto Sans KR"/>
                <a:sym typeface="Noto Sans KR"/>
              </a:rPr>
              <a:t>도심지 접근성과 가격 사이에서 타협점을 찾는 것이 중요</a:t>
            </a:r>
            <a:endParaRPr dirty="0"/>
          </a:p>
        </p:txBody>
      </p:sp>
      <p:sp>
        <p:nvSpPr>
          <p:cNvPr id="210" name="Google Shape;210;p19">
            <a:extLst>
              <a:ext uri="{FF2B5EF4-FFF2-40B4-BE49-F238E27FC236}">
                <a16:creationId xmlns:a16="http://schemas.microsoft.com/office/drawing/2014/main" id="{0FF441A5-6825-8DFC-9DE3-153F59494EFD}"/>
              </a:ext>
            </a:extLst>
          </p:cNvPr>
          <p:cNvSpPr txBox="1"/>
          <p:nvPr/>
        </p:nvSpPr>
        <p:spPr>
          <a:xfrm>
            <a:off x="762000" y="903535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1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도쿄 중심부</a:t>
            </a:r>
            <a:r>
              <a:rPr lang="ko-KR" alt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에 집중된 초고가 숙소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12" name="Google Shape;212;p19" descr="image.png">
            <a:extLst>
              <a:ext uri="{FF2B5EF4-FFF2-40B4-BE49-F238E27FC236}">
                <a16:creationId xmlns:a16="http://schemas.microsoft.com/office/drawing/2014/main" id="{4D40050E-89B0-3D02-DCFB-9FE371F55E2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4463" y="2715840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9" descr="image.png">
            <a:extLst>
              <a:ext uri="{FF2B5EF4-FFF2-40B4-BE49-F238E27FC236}">
                <a16:creationId xmlns:a16="http://schemas.microsoft.com/office/drawing/2014/main" id="{3EC1C82A-C514-7652-F711-8DFCED0182F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4462" y="3312580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9" descr="image.png">
            <a:extLst>
              <a:ext uri="{FF2B5EF4-FFF2-40B4-BE49-F238E27FC236}">
                <a16:creationId xmlns:a16="http://schemas.microsoft.com/office/drawing/2014/main" id="{8EAD0760-EB7E-D5AD-E6FD-A74B270FE18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0285" y="3923116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1B6FDD3-1F40-C235-627F-10E76B5A18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0127" y="1909018"/>
            <a:ext cx="597631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824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09018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848373"/>
            <a:ext cx="5286375" cy="120774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571500" y="2314872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역에서</a:t>
            </a: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멀어질수록</a:t>
            </a:r>
            <a:r>
              <a:rPr lang="en-US" altLang="ko-KR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?</a:t>
            </a:r>
            <a:endParaRPr dirty="0"/>
          </a:p>
        </p:txBody>
      </p:sp>
      <p:sp>
        <p:nvSpPr>
          <p:cNvPr id="204" name="Google Shape;204;p19"/>
          <p:cNvSpPr txBox="1"/>
          <p:nvPr/>
        </p:nvSpPr>
        <p:spPr>
          <a:xfrm>
            <a:off x="571500" y="2867322"/>
            <a:ext cx="52863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내부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스펙을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동일하게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고정하고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역까지의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거리만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변화시킨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결과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공시지가 대비 숙박비가 높게 나오는 구간이 나왔습니다</a:t>
            </a:r>
            <a:r>
              <a:rPr lang="en-US" altLang="ko-KR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/>
          </a:p>
        </p:txBody>
      </p:sp>
      <p:sp>
        <p:nvSpPr>
          <p:cNvPr id="206" name="Google Shape;206;p19"/>
          <p:cNvSpPr txBox="1"/>
          <p:nvPr/>
        </p:nvSpPr>
        <p:spPr>
          <a:xfrm>
            <a:off x="857250" y="3587353"/>
            <a:ext cx="50006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0.0 ~ </a:t>
            </a:r>
            <a:r>
              <a:rPr lang="en-US" sz="1350" b="1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1.0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km: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완만한 효율 상승</a:t>
            </a:r>
            <a:r>
              <a:rPr lang="en-US" altLang="ko-KR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숙박비 대비 매입 비용 큼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dirty="0"/>
          </a:p>
        </p:txBody>
      </p:sp>
      <p:sp>
        <p:nvSpPr>
          <p:cNvPr id="207" name="Google Shape;207;p19"/>
          <p:cNvSpPr txBox="1"/>
          <p:nvPr/>
        </p:nvSpPr>
        <p:spPr>
          <a:xfrm>
            <a:off x="857250" y="4004518"/>
            <a:ext cx="50006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1.0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~ 1.25km: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1350" b="1" i="0" u="none" strike="noStrike" cap="none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최적 구간 </a:t>
            </a:r>
            <a:r>
              <a:rPr lang="en-US" altLang="ko-KR" sz="1350" b="1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ko-KR" altLang="en-US" sz="1350" b="1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효율 최고</a:t>
            </a:r>
            <a:r>
              <a:rPr lang="en-US" altLang="ko-KR" sz="1350" b="1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dirty="0"/>
          </a:p>
        </p:txBody>
      </p:sp>
      <p:sp>
        <p:nvSpPr>
          <p:cNvPr id="208" name="Google Shape;208;p19"/>
          <p:cNvSpPr txBox="1"/>
          <p:nvPr/>
        </p:nvSpPr>
        <p:spPr>
          <a:xfrm>
            <a:off x="857250" y="4421683"/>
            <a:ext cx="50006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1.25km </a:t>
            </a:r>
            <a:r>
              <a:rPr lang="en-US" sz="1350" b="1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이상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하락</a:t>
            </a: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세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(</a:t>
            </a:r>
            <a:r>
              <a:rPr lang="ko-KR" altLang="en-US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소비자에게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외곽으로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인식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dirty="0"/>
          </a:p>
        </p:txBody>
      </p:sp>
      <p:sp>
        <p:nvSpPr>
          <p:cNvPr id="209" name="Google Shape;209;p19"/>
          <p:cNvSpPr txBox="1"/>
          <p:nvPr/>
        </p:nvSpPr>
        <p:spPr>
          <a:xfrm>
            <a:off x="866775" y="5315098"/>
            <a:ext cx="46958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결론</a:t>
            </a:r>
            <a:r>
              <a:rPr lang="en-US" sz="135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: 1.0~  </a:t>
            </a:r>
            <a:r>
              <a:rPr lang="en-US" sz="1350" b="1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1.25k</a:t>
            </a:r>
            <a:r>
              <a:rPr lang="en-US" sz="135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m </a:t>
            </a:r>
            <a:r>
              <a:rPr lang="ko-KR" altLang="en-US" sz="1350" b="1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구간에서</a:t>
            </a:r>
            <a:r>
              <a:rPr lang="en-US" sz="135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숙소</a:t>
            </a:r>
            <a:r>
              <a:rPr lang="en-US" sz="135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확보가</a:t>
            </a:r>
            <a:r>
              <a:rPr lang="en-US" sz="135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수익성</a:t>
            </a:r>
            <a:r>
              <a:rPr lang="ko-KR" altLang="en-US" sz="135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이 좋다</a:t>
            </a:r>
            <a:r>
              <a:rPr lang="en-US" altLang="ko-KR" sz="135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/>
          </a:p>
        </p:txBody>
      </p:sp>
      <p:sp>
        <p:nvSpPr>
          <p:cNvPr id="210" name="Google Shape;210;p19"/>
          <p:cNvSpPr txBox="1"/>
          <p:nvPr/>
        </p:nvSpPr>
        <p:spPr>
          <a:xfrm>
            <a:off x="762000" y="903535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역 거리별 수익 효율 비교 </a:t>
            </a:r>
            <a:r>
              <a:rPr lang="en-US" altLang="ko-KR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(</a:t>
            </a:r>
            <a:r>
              <a:rPr lang="ko-KR" alt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역거리별 호스트한테 </a:t>
            </a:r>
            <a:r>
              <a:rPr lang="ko-KR" altLang="en-US" sz="31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맞게 </a:t>
            </a:r>
            <a:r>
              <a:rPr lang="ko-KR" altLang="en-US" sz="3150" b="1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변형해봄</a:t>
            </a:r>
            <a:r>
              <a:rPr lang="en-US" altLang="ko-KR" sz="31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)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12" name="Google Shape;21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687365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6096" y="4073802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6144" y="4495948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73AE4E8-67D7-1CA3-0917-A263B5DC95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5531" y="1769863"/>
            <a:ext cx="6114544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09018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/>
          <p:cNvSpPr txBox="1"/>
          <p:nvPr/>
        </p:nvSpPr>
        <p:spPr>
          <a:xfrm>
            <a:off x="6334125" y="1909018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효율적인</a:t>
            </a: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지역</a:t>
            </a: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선택</a:t>
            </a: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전략</a:t>
            </a:r>
            <a:endParaRPr dirty="0"/>
          </a:p>
        </p:txBody>
      </p:sp>
      <p:sp>
        <p:nvSpPr>
          <p:cNvPr id="223" name="Google Shape;223;p20"/>
          <p:cNvSpPr txBox="1"/>
          <p:nvPr/>
        </p:nvSpPr>
        <p:spPr>
          <a:xfrm>
            <a:off x="6334124" y="2351038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시부야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미나토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같은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초고가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지역보다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전략적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고가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지역의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투자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효율이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높습니다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/>
          </a:p>
        </p:txBody>
      </p:sp>
      <p:graphicFrame>
        <p:nvGraphicFramePr>
          <p:cNvPr id="224" name="Google Shape;224;p20"/>
          <p:cNvGraphicFramePr/>
          <p:nvPr>
            <p:extLst>
              <p:ext uri="{D42A27DB-BD31-4B8C-83A1-F6EECF244321}">
                <p14:modId xmlns:p14="http://schemas.microsoft.com/office/powerpoint/2010/main" val="455148609"/>
              </p:ext>
            </p:extLst>
          </p:nvPr>
        </p:nvGraphicFramePr>
        <p:xfrm>
          <a:off x="6334125" y="3371093"/>
          <a:ext cx="5550693" cy="1971700"/>
        </p:xfrm>
        <a:graphic>
          <a:graphicData uri="http://schemas.openxmlformats.org/drawingml/2006/table">
            <a:tbl>
              <a:tblPr firstRow="1" bandRow="1">
                <a:noFill/>
                <a:tableStyleId>{7FE19FE0-7E50-4F79-8B4B-5D965F6DAC54}</a:tableStyleId>
              </a:tblPr>
              <a:tblGrid>
                <a:gridCol w="1528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2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04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구분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 u="none" strike="noStrike" cap="none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sym typeface="Noto Sans KR"/>
                        </a:rPr>
                        <a:t>공시지가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 u="none" strike="noStrike" cap="none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숙박가격                     효  율             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sym typeface="Noto Sans KR"/>
                        </a:rPr>
                        <a:t>초고가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231</a:t>
                      </a:r>
                      <a:r>
                        <a:rPr lang="ko-KR" altLang="en-US" sz="12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만엔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19,832</a:t>
                      </a:r>
                      <a:r>
                        <a:rPr lang="ko-KR" altLang="en-US" sz="12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엔                    </a:t>
                      </a:r>
                      <a:r>
                        <a:rPr lang="en-US" altLang="ko-KR" sz="12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85.8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고가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126</a:t>
                      </a:r>
                      <a:r>
                        <a:rPr lang="ko-KR" altLang="en-US" sz="12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만엔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15,157</a:t>
                      </a:r>
                      <a:r>
                        <a:rPr lang="ko-KR" altLang="en-US" sz="12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엔                   </a:t>
                      </a:r>
                      <a:r>
                        <a:rPr lang="en-US" altLang="ko-KR" sz="1200" b="1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120.3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sym typeface="Noto Sans KR"/>
                        </a:rPr>
                        <a:t>중위권</a:t>
                      </a:r>
                      <a:endParaRPr b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136</a:t>
                      </a:r>
                      <a:r>
                        <a:rPr lang="ko-KR" altLang="en-US" sz="1200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만엔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</a:t>
                      </a:r>
                      <a:r>
                        <a:rPr lang="en-US" altLang="ko-KR" sz="1200" b="0" i="0" u="none" strike="noStrike" cap="none" dirty="0">
                          <a:solidFill>
                            <a:schemeClr val="tx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4,357</a:t>
                      </a:r>
                      <a:r>
                        <a:rPr lang="ko-KR" altLang="en-US" sz="1200" b="0" i="0" u="none" strike="noStrike" cap="none" dirty="0">
                          <a:solidFill>
                            <a:schemeClr val="tx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엔                   </a:t>
                      </a:r>
                      <a:r>
                        <a:rPr lang="en-US" altLang="ko-KR" sz="1200" b="1" i="0" u="none" strike="noStrike" cap="none" dirty="0">
                          <a:solidFill>
                            <a:schemeClr val="tx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105.5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5" name="Google Shape;225;p20"/>
          <p:cNvSpPr txBox="1"/>
          <p:nvPr/>
        </p:nvSpPr>
        <p:spPr>
          <a:xfrm>
            <a:off x="6334124" y="5408754"/>
            <a:ext cx="5432496" cy="1083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하위권 </a:t>
            </a:r>
            <a:r>
              <a:rPr lang="en-US" altLang="ko-KR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— </a:t>
            </a:r>
            <a:r>
              <a:rPr lang="ko-KR" alt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도쿄 관광객 대부분이 </a:t>
            </a:r>
            <a:r>
              <a:rPr lang="ko-KR" alt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야마노테선</a:t>
            </a:r>
            <a:r>
              <a:rPr lang="ko-KR" alt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내권</a:t>
            </a:r>
            <a:r>
              <a:rPr lang="ko-KR" alt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안에서 이동하는 특성상 외곽은 </a:t>
            </a:r>
            <a:r>
              <a:rPr lang="ko-KR" alt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에어비앤비</a:t>
            </a:r>
            <a:r>
              <a:rPr lang="ko-KR" alt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수요 </a:t>
            </a:r>
            <a:r>
              <a:rPr lang="ko-KR" alt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모수</a:t>
            </a:r>
            <a:r>
              <a:rPr lang="ko-KR" alt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자체가 다름</a:t>
            </a:r>
            <a:endParaRPr lang="en-US" altLang="ko-KR" sz="1100" b="0" i="0" u="none" strike="noStrike" cap="none" dirty="0">
              <a:solidFill>
                <a:srgbClr val="33415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100" b="0" i="0" u="none" strike="noStrike" cap="none" dirty="0">
              <a:solidFill>
                <a:srgbClr val="33415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2. </a:t>
            </a:r>
            <a:r>
              <a:rPr lang="ko-KR" alt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초고가 제외고가 지역 대비 공시지가는 </a:t>
            </a:r>
            <a:r>
              <a:rPr lang="en-US" altLang="ko-KR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45% </a:t>
            </a:r>
            <a:r>
              <a:rPr lang="ko-KR" alt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저렴하지만 숙박가격은 </a:t>
            </a:r>
            <a:r>
              <a:rPr lang="en-US" altLang="ko-KR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24% </a:t>
            </a:r>
            <a:r>
              <a:rPr lang="ko-KR" alt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밖에 차이 </a:t>
            </a:r>
            <a:r>
              <a:rPr lang="ko-KR" alt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안남</a:t>
            </a:r>
            <a:endParaRPr dirty="0"/>
          </a:p>
        </p:txBody>
      </p:sp>
      <p:sp>
        <p:nvSpPr>
          <p:cNvPr id="226" name="Google Shape;226;p20"/>
          <p:cNvSpPr/>
          <p:nvPr/>
        </p:nvSpPr>
        <p:spPr>
          <a:xfrm>
            <a:off x="6334125" y="4356943"/>
            <a:ext cx="14553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7789515" y="4356943"/>
            <a:ext cx="17448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9534376" y="4356943"/>
            <a:ext cx="20861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6334125" y="4852243"/>
            <a:ext cx="14553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7789515" y="4852243"/>
            <a:ext cx="17448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9534376" y="4852243"/>
            <a:ext cx="20861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6334125" y="5347543"/>
            <a:ext cx="14553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7789515" y="5347543"/>
            <a:ext cx="17448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9534376" y="5347543"/>
            <a:ext cx="20861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762000" y="903535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투자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효율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스위트스팟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: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고가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지역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vs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초고가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지역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E43B89B-BE38-ACC7-C431-584ED6F796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084" y="1538292"/>
            <a:ext cx="6028797" cy="50277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5743575"/>
            <a:ext cx="11049000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571500" y="476250"/>
            <a:ext cx="1160145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68"/>
              </a:lnSpc>
            </a:pPr>
            <a:r>
              <a:rPr lang="ko-KR" altLang="en-US" sz="315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중앙값 차이로 측정한 </a:t>
            </a:r>
            <a:r>
              <a:rPr lang="en-US" sz="315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핵심</a:t>
            </a:r>
            <a:r>
              <a:rPr lang="en-US" sz="315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315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변수별</a:t>
            </a:r>
            <a:r>
              <a:rPr lang="en-US" sz="315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315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가격</a:t>
            </a:r>
            <a:r>
              <a:rPr lang="en-US" sz="315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315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기여도</a:t>
            </a:r>
            <a:r>
              <a:rPr lang="en-US" sz="315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315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종합</a:t>
            </a:r>
            <a:r>
              <a:rPr lang="en-US" sz="315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dirty="0"/>
          </a:p>
        </p:txBody>
      </p:sp>
      <p:sp>
        <p:nvSpPr>
          <p:cNvPr id="112" name="Google Shape;112;p14"/>
          <p:cNvSpPr txBox="1"/>
          <p:nvPr/>
        </p:nvSpPr>
        <p:spPr>
          <a:xfrm>
            <a:off x="857250" y="5915025"/>
            <a:ext cx="1052512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0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"</a:t>
            </a:r>
            <a:r>
              <a:rPr lang="en-US" sz="1725" b="1" i="1" u="none" strike="noStrike" cap="none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위치</a:t>
            </a:r>
            <a:r>
              <a:rPr lang="en-US" sz="1725" b="1" i="1" u="none" strike="noStrike" cap="none" dirty="0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 · </a:t>
            </a:r>
            <a:r>
              <a:rPr lang="en-US" sz="1725" b="1" i="1" u="none" strike="noStrike" cap="none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내부스펙</a:t>
            </a:r>
            <a:r>
              <a:rPr lang="en-US" sz="1725" b="1" i="1" u="none" strike="noStrike" cap="none" dirty="0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 · </a:t>
            </a:r>
            <a:r>
              <a:rPr lang="en-US" sz="1725" b="1" i="1" u="none" strike="noStrike" cap="none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운영</a:t>
            </a:r>
            <a:r>
              <a:rPr lang="en-US" sz="1725" b="0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세 </a:t>
            </a:r>
            <a:r>
              <a:rPr lang="en-US" sz="1725" b="0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축을</a:t>
            </a:r>
            <a:r>
              <a:rPr lang="en-US" sz="1725" b="0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725" b="0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함께</a:t>
            </a:r>
            <a:r>
              <a:rPr lang="en-US" sz="1725" b="0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725" b="0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최적화할</a:t>
            </a:r>
            <a:r>
              <a:rPr lang="en-US" sz="1725" b="0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때 </a:t>
            </a:r>
            <a:r>
              <a:rPr lang="en-US" sz="1725" b="0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단가</a:t>
            </a:r>
            <a:r>
              <a:rPr lang="en-US" sz="1725" b="0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725" b="0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효율이</a:t>
            </a:r>
            <a:r>
              <a:rPr lang="en-US" sz="1725" b="0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725" b="0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극대화된다</a:t>
            </a:r>
            <a:r>
              <a:rPr lang="en-US" sz="1725" b="0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"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96D6A42-7BAD-D73A-F488-E3EEE6E229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79" y="1318170"/>
            <a:ext cx="7094883" cy="43603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DE2102-6BD3-F27F-4F37-246DD7DF3A14}"/>
              </a:ext>
            </a:extLst>
          </p:cNvPr>
          <p:cNvSpPr txBox="1"/>
          <p:nvPr/>
        </p:nvSpPr>
        <p:spPr>
          <a:xfrm>
            <a:off x="7947144" y="1713200"/>
            <a:ext cx="402511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2100" b="1" i="0" u="none" strike="noStrike" kern="0" cap="none" spc="0" normalizeH="0" baseline="0" noProof="0" dirty="0">
                <a:ln>
                  <a:noFill/>
                </a:ln>
                <a:solidFill>
                  <a:srgbClr val="3B82F6"/>
                </a:solidFill>
                <a:effectLst/>
                <a:uLnTx/>
                <a:uFillTx/>
                <a:latin typeface="Noto Sans KR"/>
                <a:ea typeface="Noto Sans KR"/>
                <a:cs typeface="Noto Sans KR"/>
                <a:sym typeface="Noto Sans KR"/>
              </a:rPr>
              <a:t>호스트가 선택 할 수 있는 조건들</a:t>
            </a: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2851CF-3ABD-E44D-5EF7-2FE3CD27D1ED}"/>
              </a:ext>
            </a:extLst>
          </p:cNvPr>
          <p:cNvSpPr txBox="1"/>
          <p:nvPr/>
        </p:nvSpPr>
        <p:spPr>
          <a:xfrm>
            <a:off x="7947144" y="2974694"/>
            <a:ext cx="4025118" cy="1047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Noto Sans KR"/>
                <a:ea typeface="Noto Sans KR"/>
                <a:cs typeface="Noto Sans KR"/>
                <a:sym typeface="Noto Sans KR"/>
              </a:rPr>
              <a:t>침실을 늘리고</a:t>
            </a:r>
            <a:r>
              <a:rPr kumimoji="0" lang="en-US" altLang="ko-KR" sz="1350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kumimoji="0" lang="ko-KR" alt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Noto Sans KR"/>
                <a:ea typeface="Noto Sans KR"/>
                <a:cs typeface="Noto Sans KR"/>
                <a:sym typeface="Noto Sans KR"/>
              </a:rPr>
              <a:t>수용 인원을 확대하고</a:t>
            </a:r>
            <a:r>
              <a:rPr kumimoji="0" lang="en-US" altLang="ko-KR" sz="1350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Noto Sans KR"/>
                <a:ea typeface="Noto Sans KR"/>
                <a:cs typeface="Noto Sans KR"/>
                <a:sym typeface="Noto Sans KR"/>
              </a:rPr>
              <a:t>, TV </a:t>
            </a:r>
            <a:r>
              <a:rPr kumimoji="0" lang="ko-KR" alt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Noto Sans KR"/>
                <a:ea typeface="Noto Sans KR"/>
                <a:cs typeface="Noto Sans KR"/>
                <a:sym typeface="Noto Sans KR"/>
              </a:rPr>
              <a:t>하나 들이고</a:t>
            </a:r>
            <a:r>
              <a:rPr kumimoji="0" lang="en-US" altLang="ko-KR" sz="1350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kumimoji="0" lang="ko-KR" altLang="en-US" sz="1350" b="0" i="0" u="none" strike="noStrike" kern="0" cap="none" spc="0" normalizeH="0" baseline="0" noProof="0" dirty="0" err="1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Noto Sans KR"/>
                <a:ea typeface="Noto Sans KR"/>
                <a:cs typeface="Noto Sans KR"/>
                <a:sym typeface="Noto Sans KR"/>
              </a:rPr>
              <a:t>슈퍼호스트</a:t>
            </a:r>
            <a:r>
              <a:rPr kumimoji="0" lang="ko-KR" alt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Noto Sans KR"/>
                <a:ea typeface="Noto Sans KR"/>
                <a:cs typeface="Noto Sans KR"/>
                <a:sym typeface="Noto Sans KR"/>
              </a:rPr>
              <a:t> 배지를 따는 것 </a:t>
            </a:r>
            <a:r>
              <a:rPr kumimoji="0" lang="en-US" altLang="ko-KR" sz="1350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Noto Sans KR"/>
                <a:ea typeface="Noto Sans KR"/>
                <a:cs typeface="Noto Sans KR"/>
                <a:sym typeface="Noto Sans KR"/>
              </a:rPr>
              <a:t>— </a:t>
            </a:r>
            <a:r>
              <a:rPr kumimoji="0" lang="ko-KR" alt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Noto Sans KR"/>
                <a:ea typeface="Noto Sans KR"/>
                <a:cs typeface="Noto Sans KR"/>
                <a:sym typeface="Noto Sans KR"/>
              </a:rPr>
              <a:t>이 선택들의 합이 초고가 입지 프리미엄과 맞먹는다</a:t>
            </a:r>
            <a:r>
              <a:rPr kumimoji="0" lang="en-US" altLang="ko-KR" sz="1350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5743575"/>
            <a:ext cx="11049000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571500" y="476250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내부스펙에</a:t>
            </a:r>
            <a:r>
              <a:rPr lang="en-US" sz="315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315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따른</a:t>
            </a:r>
            <a:r>
              <a:rPr lang="en-US" sz="315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315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가격</a:t>
            </a:r>
            <a:r>
              <a:rPr lang="en-US" sz="315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315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차이</a:t>
            </a:r>
            <a:r>
              <a:rPr lang="en-US" sz="315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315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분석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103242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방 유형 · 수용 인원 — 내부 조건이 가격에 미치는 영향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857250" y="5915025"/>
            <a:ext cx="10525125" cy="26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0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＂</a:t>
            </a:r>
            <a:r>
              <a:rPr lang="ko-KR" altLang="en-US" sz="1725" b="1" i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방 유형 조건</a:t>
            </a:r>
            <a:r>
              <a:rPr lang="en-US" altLang="ko-KR" sz="1725" b="1" i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ko-KR" altLang="en-US" sz="1725" b="1" i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725" b="1" i="1" u="none" strike="noStrike" cap="none" dirty="0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+6,605엔)</a:t>
            </a:r>
            <a:r>
              <a:rPr lang="en-US" sz="1725" b="0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과 </a:t>
            </a:r>
            <a:r>
              <a:rPr lang="en-US" sz="1725" b="1" i="1" u="none" strike="noStrike" cap="none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수용인원</a:t>
            </a:r>
            <a:r>
              <a:rPr lang="en-US" sz="1725" b="1" i="1" u="none" strike="noStrike" cap="none" dirty="0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725" b="1" i="1" u="none" strike="noStrike" cap="none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확대</a:t>
            </a:r>
            <a:r>
              <a:rPr lang="en-US" sz="1725" b="1" i="1" u="none" strike="noStrike" cap="none" dirty="0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(+</a:t>
            </a:r>
            <a:r>
              <a:rPr lang="en-US" sz="1725" b="1" i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5</a:t>
            </a:r>
            <a:r>
              <a:rPr lang="en-US" sz="1725" b="1" i="1" u="none" strike="noStrike" cap="none" dirty="0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,342엔)</a:t>
            </a:r>
            <a:r>
              <a:rPr lang="en-US" sz="1725" b="0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가 </a:t>
            </a:r>
            <a:r>
              <a:rPr lang="en-US" sz="1725" b="0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내부스펙</a:t>
            </a:r>
            <a:r>
              <a:rPr lang="en-US" sz="1725" b="0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중 </a:t>
            </a:r>
            <a:r>
              <a:rPr lang="en-US" sz="1725" b="0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가장</a:t>
            </a:r>
            <a:r>
              <a:rPr lang="en-US" sz="1725" b="0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725" b="0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효과적인</a:t>
            </a:r>
            <a:r>
              <a:rPr lang="en-US" sz="1725" b="0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725" b="0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단가</a:t>
            </a:r>
            <a:r>
              <a:rPr lang="en-US" sz="1725" b="0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725" b="0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상승</a:t>
            </a:r>
            <a:r>
              <a:rPr lang="en-US" sz="1725" b="0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725" b="0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수단</a:t>
            </a:r>
            <a:r>
              <a:rPr lang="en-US" sz="1725" b="0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"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6771382" y="1706909"/>
            <a:ext cx="509157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방 유형별 중앙 가격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6771382" y="2087909"/>
            <a:ext cx="4849117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6771382" y="3935759"/>
            <a:ext cx="509157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수용 인원별 중앙 가격</a:t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6771382" y="4316759"/>
            <a:ext cx="4849117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6771382" y="2249834"/>
            <a:ext cx="4849117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Hotel room </a:t>
            </a:r>
            <a:r>
              <a:rPr lang="en-US" sz="1575" b="1" i="0" u="none" strike="noStrike" cap="none" dirty="0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17,715엔</a:t>
            </a:r>
            <a:r>
              <a:rPr lang="en-US" sz="1575" b="1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ko-KR" altLang="en-US" sz="1575" b="1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기업형</a:t>
            </a:r>
            <a:r>
              <a:rPr lang="en-US" altLang="ko-KR" sz="1575" b="1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sz="1575" b="1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개인 </a:t>
            </a:r>
            <a:r>
              <a:rPr lang="ko-KR" altLang="en-US" sz="1575" b="1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호스트에게 부적절</a:t>
            </a:r>
            <a:r>
              <a:rPr lang="en-US" sz="1575" b="1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dirty="0"/>
          </a:p>
        </p:txBody>
      </p:sp>
      <p:sp>
        <p:nvSpPr>
          <p:cNvPr id="96" name="Google Shape;96;p13"/>
          <p:cNvSpPr txBox="1"/>
          <p:nvPr/>
        </p:nvSpPr>
        <p:spPr>
          <a:xfrm>
            <a:off x="6771382" y="2611784"/>
            <a:ext cx="4849117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575" b="0" i="0" u="none" strike="noStrike" cap="none" dirty="0">
                <a:solidFill>
                  <a:srgbClr val="334155"/>
                </a:solidFill>
                <a:highlight>
                  <a:srgbClr val="FFFF00"/>
                </a:highlight>
                <a:latin typeface="Noto Sans KR"/>
                <a:ea typeface="Noto Sans KR"/>
                <a:cs typeface="Noto Sans KR"/>
                <a:sym typeface="Noto Sans KR"/>
              </a:rPr>
              <a:t>Entire home/apt </a:t>
            </a:r>
            <a:r>
              <a:rPr lang="en-US" sz="1575" b="1" i="0" u="none" strike="noStrike" cap="none" dirty="0">
                <a:solidFill>
                  <a:srgbClr val="2563EB"/>
                </a:solidFill>
                <a:highlight>
                  <a:srgbClr val="FFFF00"/>
                </a:highlight>
                <a:latin typeface="Noto Sans KR"/>
                <a:ea typeface="Noto Sans KR"/>
                <a:cs typeface="Noto Sans KR"/>
                <a:sym typeface="Noto Sans KR"/>
              </a:rPr>
              <a:t>13,783엔</a:t>
            </a:r>
            <a:r>
              <a:rPr lang="en-US" altLang="ko-KR" b="1" dirty="0">
                <a:solidFill>
                  <a:srgbClr val="94A3B8"/>
                </a:solidFill>
                <a:highlight>
                  <a:srgbClr val="FFFF00"/>
                </a:highlight>
                <a:latin typeface="Noto Sans KR"/>
                <a:ea typeface="Noto Sans KR"/>
                <a:cs typeface="Noto Sans KR"/>
                <a:sym typeface="Noto Sans KR"/>
              </a:rPr>
              <a:t> (</a:t>
            </a:r>
            <a:r>
              <a:rPr lang="ko-KR" altLang="en-US" b="1" dirty="0">
                <a:solidFill>
                  <a:srgbClr val="94A3B8"/>
                </a:solidFill>
                <a:highlight>
                  <a:srgbClr val="FFFF00"/>
                </a:highlight>
                <a:latin typeface="Noto Sans KR"/>
                <a:ea typeface="Noto Sans KR"/>
                <a:cs typeface="Noto Sans KR"/>
                <a:sym typeface="Noto Sans KR"/>
              </a:rPr>
              <a:t>개인 호스트에게 최적화</a:t>
            </a:r>
            <a:r>
              <a:rPr lang="en-US" altLang="ko-KR" b="1" dirty="0">
                <a:solidFill>
                  <a:srgbClr val="94A3B8"/>
                </a:solidFill>
                <a:highlight>
                  <a:srgbClr val="FFFF00"/>
                </a:highlight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dirty="0">
              <a:highlight>
                <a:srgbClr val="FFFF00"/>
              </a:highlight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6771382" y="2973734"/>
            <a:ext cx="484911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Private room </a:t>
            </a:r>
            <a:r>
              <a:rPr lang="en-US" sz="1575" b="1" i="0" u="none" strike="noStrike" cap="none" dirty="0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11,673엔</a:t>
            </a:r>
            <a:endParaRPr dirty="0"/>
          </a:p>
        </p:txBody>
      </p:sp>
      <p:sp>
        <p:nvSpPr>
          <p:cNvPr id="98" name="Google Shape;98;p13"/>
          <p:cNvSpPr txBox="1"/>
          <p:nvPr/>
        </p:nvSpPr>
        <p:spPr>
          <a:xfrm>
            <a:off x="6771382" y="3335684"/>
            <a:ext cx="484911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Shared room </a:t>
            </a:r>
            <a:r>
              <a:rPr lang="en-US" sz="1575" b="1" i="0" u="none" strike="noStrike" cap="none" dirty="0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7,178엔</a:t>
            </a:r>
            <a:r>
              <a:rPr lang="en-US" sz="1575" b="1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en-US" sz="1575" b="1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최저</a:t>
            </a:r>
            <a:r>
              <a:rPr lang="en-US" sz="1575" b="1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dirty="0"/>
          </a:p>
        </p:txBody>
      </p:sp>
      <p:sp>
        <p:nvSpPr>
          <p:cNvPr id="100" name="Google Shape;100;p13"/>
          <p:cNvSpPr txBox="1"/>
          <p:nvPr/>
        </p:nvSpPr>
        <p:spPr>
          <a:xfrm>
            <a:off x="6771382" y="4478684"/>
            <a:ext cx="484911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2인 </a:t>
            </a:r>
            <a:r>
              <a:rPr lang="en-US" sz="1575" b="1" i="0" u="none" strike="noStrike" cap="none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11,643엔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6771382" y="4840634"/>
            <a:ext cx="484911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3인 </a:t>
            </a:r>
            <a:r>
              <a:rPr lang="en-US" sz="1575" b="1" i="0" u="none" strike="noStrike" cap="none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13,521엔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6771382" y="5202584"/>
            <a:ext cx="4849117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 dirty="0">
                <a:solidFill>
                  <a:srgbClr val="334155"/>
                </a:solidFill>
                <a:highlight>
                  <a:srgbClr val="FFFF00"/>
                </a:highlight>
                <a:latin typeface="Noto Sans KR"/>
                <a:ea typeface="Noto Sans KR"/>
                <a:cs typeface="Noto Sans KR"/>
                <a:sym typeface="Noto Sans KR"/>
              </a:rPr>
              <a:t>4인 </a:t>
            </a:r>
            <a:r>
              <a:rPr lang="en-US" sz="1575" b="1" i="0" u="none" strike="noStrike" cap="none" dirty="0">
                <a:solidFill>
                  <a:srgbClr val="2563EB"/>
                </a:solidFill>
                <a:highlight>
                  <a:srgbClr val="FFFF00"/>
                </a:highlight>
                <a:latin typeface="Noto Sans KR"/>
                <a:ea typeface="Noto Sans KR"/>
                <a:cs typeface="Noto Sans KR"/>
                <a:sym typeface="Noto Sans KR"/>
              </a:rPr>
              <a:t>16,995엔</a:t>
            </a:r>
            <a:r>
              <a:rPr lang="en-US" sz="1575" b="1" i="0" u="none" strike="noStrike" cap="none" dirty="0">
                <a:solidFill>
                  <a:srgbClr val="94A3B8"/>
                </a:solidFill>
                <a:highlight>
                  <a:srgbClr val="FFFF00"/>
                </a:highlight>
                <a:latin typeface="Noto Sans KR"/>
                <a:ea typeface="Noto Sans KR"/>
                <a:cs typeface="Noto Sans KR"/>
                <a:sym typeface="Noto Sans KR"/>
              </a:rPr>
              <a:t>→ </a:t>
            </a:r>
            <a:r>
              <a:rPr lang="en-US" sz="1575" b="1" i="0" u="none" strike="noStrike" cap="none" dirty="0" err="1">
                <a:solidFill>
                  <a:srgbClr val="94A3B8"/>
                </a:solidFill>
                <a:highlight>
                  <a:srgbClr val="FFFF00"/>
                </a:highlight>
                <a:latin typeface="Noto Sans KR"/>
                <a:ea typeface="Noto Sans KR"/>
                <a:cs typeface="Noto Sans KR"/>
                <a:sym typeface="Noto Sans KR"/>
              </a:rPr>
              <a:t>단가</a:t>
            </a:r>
            <a:r>
              <a:rPr lang="en-US" sz="1575" b="1" i="0" u="none" strike="noStrike" cap="none" dirty="0">
                <a:solidFill>
                  <a:srgbClr val="94A3B8"/>
                </a:solidFill>
                <a:highlight>
                  <a:srgbClr val="FFFF00"/>
                </a:highlight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75" b="1" i="0" u="none" strike="noStrike" cap="none" dirty="0" err="1">
                <a:solidFill>
                  <a:srgbClr val="94A3B8"/>
                </a:solidFill>
                <a:highlight>
                  <a:srgbClr val="FFFF00"/>
                </a:highlight>
                <a:latin typeface="Noto Sans KR"/>
                <a:ea typeface="Noto Sans KR"/>
                <a:cs typeface="Noto Sans KR"/>
                <a:sym typeface="Noto Sans KR"/>
              </a:rPr>
              <a:t>상승</a:t>
            </a:r>
            <a:endParaRPr dirty="0">
              <a:highlight>
                <a:srgbClr val="FFFF00"/>
              </a:highlight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1487462-DEB9-B3C7-C8DA-D5165ADDB1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04" y="1382911"/>
            <a:ext cx="6109253" cy="434161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09018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1"/>
          <p:cNvSpPr txBox="1"/>
          <p:nvPr/>
        </p:nvSpPr>
        <p:spPr>
          <a:xfrm>
            <a:off x="571500" y="2388244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저비용</a:t>
            </a: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고효율</a:t>
            </a: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vs </a:t>
            </a: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피해야</a:t>
            </a: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할 </a:t>
            </a: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옵션</a:t>
            </a:r>
            <a:endParaRPr dirty="0"/>
          </a:p>
        </p:txBody>
      </p:sp>
      <p:sp>
        <p:nvSpPr>
          <p:cNvPr id="246" name="Google Shape;246;p21"/>
          <p:cNvSpPr txBox="1"/>
          <p:nvPr/>
        </p:nvSpPr>
        <p:spPr>
          <a:xfrm>
            <a:off x="571500" y="2940694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작은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투자로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방값을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확실히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올릴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수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있는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옵션이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있습니다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/>
          </a:p>
        </p:txBody>
      </p:sp>
      <p:sp>
        <p:nvSpPr>
          <p:cNvPr id="247" name="Google Shape;247;p21"/>
          <p:cNvSpPr txBox="1"/>
          <p:nvPr/>
        </p:nvSpPr>
        <p:spPr>
          <a:xfrm>
            <a:off x="571500" y="5422701"/>
            <a:ext cx="528637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* '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주차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'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옵션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숙소는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대부분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도심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외곽의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저가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숙소이므로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중심가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호스트는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주차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공간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확보에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투자할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필요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없음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/>
          </a:p>
        </p:txBody>
      </p:sp>
      <p:sp>
        <p:nvSpPr>
          <p:cNvPr id="249" name="Google Shape;249;p21"/>
          <p:cNvSpPr txBox="1"/>
          <p:nvPr/>
        </p:nvSpPr>
        <p:spPr>
          <a:xfrm>
            <a:off x="714375" y="3576935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4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설치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1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권장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(</a:t>
            </a:r>
            <a:r>
              <a:rPr lang="en-US" sz="1350" b="1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가성비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1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최고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dirty="0"/>
          </a:p>
        </p:txBody>
      </p:sp>
      <p:sp>
        <p:nvSpPr>
          <p:cNvPr id="250" name="Google Shape;250;p21"/>
          <p:cNvSpPr txBox="1"/>
          <p:nvPr/>
        </p:nvSpPr>
        <p:spPr>
          <a:xfrm>
            <a:off x="714375" y="3898850"/>
            <a:ext cx="5000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TV (+2,000엔),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다리미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(+1,934엔),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업무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공간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(+1,732엔)</a:t>
            </a:r>
            <a:endParaRPr dirty="0"/>
          </a:p>
        </p:txBody>
      </p:sp>
      <p:sp>
        <p:nvSpPr>
          <p:cNvPr id="251" name="Google Shape;251;p21"/>
          <p:cNvSpPr txBox="1"/>
          <p:nvPr/>
        </p:nvSpPr>
        <p:spPr>
          <a:xfrm>
            <a:off x="714375" y="4571255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4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배제 권장 (가격 왜곡 변수)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714375" y="4893171"/>
            <a:ext cx="5000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무료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주차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(-2,455엔),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반려동물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허용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(-1,949엔)</a:t>
            </a:r>
            <a:endParaRPr dirty="0"/>
          </a:p>
        </p:txBody>
      </p:sp>
      <p:sp>
        <p:nvSpPr>
          <p:cNvPr id="255" name="Google Shape;255;p21"/>
          <p:cNvSpPr txBox="1"/>
          <p:nvPr/>
        </p:nvSpPr>
        <p:spPr>
          <a:xfrm>
            <a:off x="762000" y="903535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가성비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어메니티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투자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전략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47AA684-7726-B0D9-E4C6-63314DE09C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4075" y="1909018"/>
            <a:ext cx="6226192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09018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392090"/>
            <a:ext cx="528637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2"/>
          <p:cNvSpPr txBox="1"/>
          <p:nvPr/>
        </p:nvSpPr>
        <p:spPr>
          <a:xfrm>
            <a:off x="6334125" y="2374850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돈 한 푼 안 </a:t>
            </a: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들이고</a:t>
            </a: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가격</a:t>
            </a: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올리기</a:t>
            </a:r>
            <a:endParaRPr dirty="0"/>
          </a:p>
        </p:txBody>
      </p:sp>
      <p:sp>
        <p:nvSpPr>
          <p:cNvPr id="266" name="Google Shape;266;p22"/>
          <p:cNvSpPr txBox="1"/>
          <p:nvPr/>
        </p:nvSpPr>
        <p:spPr>
          <a:xfrm>
            <a:off x="6334125" y="2927300"/>
            <a:ext cx="52863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슈퍼호스트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배지는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신규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호스트</a:t>
            </a: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에게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가장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확실한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목표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dirty="0"/>
          </a:p>
        </p:txBody>
      </p:sp>
      <p:sp>
        <p:nvSpPr>
          <p:cNvPr id="267" name="Google Shape;267;p22"/>
          <p:cNvSpPr txBox="1"/>
          <p:nvPr/>
        </p:nvSpPr>
        <p:spPr>
          <a:xfrm>
            <a:off x="6524625" y="3582590"/>
            <a:ext cx="49053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+19.9%</a:t>
            </a:r>
            <a:endParaRPr dirty="0"/>
          </a:p>
        </p:txBody>
      </p:sp>
      <p:sp>
        <p:nvSpPr>
          <p:cNvPr id="268" name="Google Shape;268;p22"/>
          <p:cNvSpPr txBox="1"/>
          <p:nvPr/>
        </p:nvSpPr>
        <p:spPr>
          <a:xfrm>
            <a:off x="6524625" y="4154090"/>
            <a:ext cx="49053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일반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호스트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대비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가격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프리미엄</a:t>
            </a:r>
            <a:endParaRPr dirty="0"/>
          </a:p>
        </p:txBody>
      </p:sp>
      <p:sp>
        <p:nvSpPr>
          <p:cNvPr id="269" name="Google Shape;269;p22"/>
          <p:cNvSpPr txBox="1"/>
          <p:nvPr/>
        </p:nvSpPr>
        <p:spPr>
          <a:xfrm>
            <a:off x="6619875" y="4735115"/>
            <a:ext cx="50006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빠른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응답률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(90%) 및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예약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취소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최소화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(1% </a:t>
            </a: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미만</a:t>
            </a:r>
            <a:r>
              <a:rPr lang="en-US" altLang="ko-KR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dirty="0"/>
          </a:p>
        </p:txBody>
      </p:sp>
      <p:sp>
        <p:nvSpPr>
          <p:cNvPr id="270" name="Google Shape;270;p22"/>
          <p:cNvSpPr txBox="1"/>
          <p:nvPr/>
        </p:nvSpPr>
        <p:spPr>
          <a:xfrm>
            <a:off x="6619875" y="5152280"/>
            <a:ext cx="50006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고객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평점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관리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(4.8</a:t>
            </a: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점 이상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dirty="0"/>
          </a:p>
        </p:txBody>
      </p:sp>
      <p:sp>
        <p:nvSpPr>
          <p:cNvPr id="271" name="Google Shape;271;p22"/>
          <p:cNvSpPr txBox="1"/>
          <p:nvPr/>
        </p:nvSpPr>
        <p:spPr>
          <a:xfrm>
            <a:off x="6619875" y="5569446"/>
            <a:ext cx="50006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연간 </a:t>
            </a:r>
            <a:r>
              <a:rPr lang="en-US" altLang="ko-KR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10</a:t>
            </a: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회 또는 </a:t>
            </a:r>
            <a:r>
              <a:rPr lang="en-US" altLang="ko-KR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100</a:t>
            </a: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박 이상 예약</a:t>
            </a:r>
            <a:endParaRPr dirty="0"/>
          </a:p>
        </p:txBody>
      </p:sp>
      <p:sp>
        <p:nvSpPr>
          <p:cNvPr id="272" name="Google Shape;272;p22"/>
          <p:cNvSpPr txBox="1"/>
          <p:nvPr/>
        </p:nvSpPr>
        <p:spPr>
          <a:xfrm>
            <a:off x="762000" y="903535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무형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자산의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가치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: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슈퍼호스트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74" name="Google Shape;274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4735115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5152280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5569446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05DC444-651F-6F5C-6E60-2333838DEB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9604" y="1909018"/>
            <a:ext cx="6114521" cy="434292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5878115"/>
            <a:ext cx="10668000" cy="549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1524000"/>
            <a:ext cx="3397150" cy="1554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97275" y="1524000"/>
            <a:ext cx="3397299" cy="1554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32700" y="1524000"/>
            <a:ext cx="3397150" cy="1554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3459360"/>
            <a:ext cx="5262562" cy="1042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167437" y="3459360"/>
            <a:ext cx="5262562" cy="1042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62000" y="4644925"/>
            <a:ext cx="5262562" cy="1042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167437" y="4644925"/>
            <a:ext cx="5262562" cy="1042689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/>
          <p:nvPr/>
        </p:nvSpPr>
        <p:spPr>
          <a:xfrm>
            <a:off x="1047750" y="6020990"/>
            <a:ext cx="10096500" cy="264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"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위치·시설·지가를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결합해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신규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호스트의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자본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효율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전략을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정량적으로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도출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—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마이닝의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실용적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적용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99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사례</a:t>
            </a:r>
            <a:r>
              <a:rPr lang="en-US" sz="1299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"</a:t>
            </a:r>
            <a:endParaRPr dirty="0"/>
          </a:p>
        </p:txBody>
      </p:sp>
      <p:sp>
        <p:nvSpPr>
          <p:cNvPr id="192" name="Google Shape;192;p18"/>
          <p:cNvSpPr txBox="1"/>
          <p:nvPr/>
        </p:nvSpPr>
        <p:spPr>
          <a:xfrm>
            <a:off x="1400175" y="1857375"/>
            <a:ext cx="24637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9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최적</a:t>
            </a:r>
            <a:r>
              <a:rPr lang="en-US" sz="1599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99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입지</a:t>
            </a:r>
            <a:endParaRPr dirty="0"/>
          </a:p>
        </p:txBody>
      </p:sp>
      <p:sp>
        <p:nvSpPr>
          <p:cNvPr id="193" name="Google Shape;193;p18"/>
          <p:cNvSpPr txBox="1"/>
          <p:nvPr/>
        </p:nvSpPr>
        <p:spPr>
          <a:xfrm>
            <a:off x="1057275" y="2295525"/>
            <a:ext cx="28066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시나가와, 타이토, 스미다 등 고가~중위 지역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역으로부터 </a:t>
            </a:r>
            <a:r>
              <a:rPr lang="en-US" sz="1200" b="1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1.0km~1.25km</a:t>
            </a:r>
            <a:r>
              <a:rPr lang="en-US" sz="12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구간 매입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5064025" y="1857375"/>
            <a:ext cx="2435274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9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필수 스펙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4692550" y="2295525"/>
            <a:ext cx="2806749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수용인원 3~4인 최적화, 침실 수 확대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TV, 다리미 구비 / 주차장 투자 배제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8594675" y="1857375"/>
            <a:ext cx="25399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9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운영 전략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8327975" y="2295525"/>
            <a:ext cx="28066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슈퍼호스트 배지 필수 획득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중가 숙소 타겟 고효율 운영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962025" y="3659385"/>
            <a:ext cx="486251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① 신규 호스트 의사결정 지원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962025" y="4078485"/>
            <a:ext cx="4862512" cy="223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감에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의존하던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가격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책정을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기반으로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전환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초기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투자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리스크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감소</a:t>
            </a:r>
            <a:endParaRPr dirty="0"/>
          </a:p>
        </p:txBody>
      </p:sp>
      <p:sp>
        <p:nvSpPr>
          <p:cNvPr id="200" name="Google Shape;200;p18"/>
          <p:cNvSpPr txBox="1"/>
          <p:nvPr/>
        </p:nvSpPr>
        <p:spPr>
          <a:xfrm>
            <a:off x="6367462" y="3659385"/>
            <a:ext cx="486251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② 입지 선정 정량화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6367462" y="4078485"/>
            <a:ext cx="4862512" cy="223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공시지가·역 거리·지역 프리미엄 결합 구간 제시 — 1.0~1.25km 스위트스팟 도출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962025" y="4844950"/>
            <a:ext cx="486251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③ </a:t>
            </a:r>
            <a:r>
              <a:rPr lang="en-US" sz="15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시설</a:t>
            </a:r>
            <a:r>
              <a:rPr lang="en-US" sz="15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투자</a:t>
            </a:r>
            <a:r>
              <a:rPr lang="en-US" sz="15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우선순위</a:t>
            </a:r>
            <a:r>
              <a:rPr lang="en-US" sz="15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제공</a:t>
            </a:r>
            <a:endParaRPr dirty="0"/>
          </a:p>
        </p:txBody>
      </p:sp>
      <p:sp>
        <p:nvSpPr>
          <p:cNvPr id="203" name="Google Shape;203;p18"/>
          <p:cNvSpPr txBox="1"/>
          <p:nvPr/>
        </p:nvSpPr>
        <p:spPr>
          <a:xfrm>
            <a:off x="962025" y="5264050"/>
            <a:ext cx="4862512" cy="223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ROI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높은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시설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선별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기준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제공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역효과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옵션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무료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주차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등)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배제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근거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제시</a:t>
            </a:r>
            <a:endParaRPr dirty="0"/>
          </a:p>
        </p:txBody>
      </p:sp>
      <p:sp>
        <p:nvSpPr>
          <p:cNvPr id="204" name="Google Shape;204;p18"/>
          <p:cNvSpPr txBox="1"/>
          <p:nvPr/>
        </p:nvSpPr>
        <p:spPr>
          <a:xfrm>
            <a:off x="6367462" y="4844950"/>
            <a:ext cx="486251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④ 향후 연구 확장 가능성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6367462" y="5264050"/>
            <a:ext cx="4862512" cy="223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점유율·계절성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포함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시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수익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예측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모델로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발전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—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동적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수익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분석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기반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마련</a:t>
            </a:r>
            <a:endParaRPr dirty="0"/>
          </a:p>
        </p:txBody>
      </p:sp>
      <p:pic>
        <p:nvPicPr>
          <p:cNvPr id="206" name="Google Shape;206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57275" y="1903362"/>
            <a:ext cx="228600" cy="20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8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692550" y="1903362"/>
            <a:ext cx="257175" cy="20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8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327975" y="1903362"/>
            <a:ext cx="152400" cy="203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8"/>
          <p:cNvSpPr txBox="1"/>
          <p:nvPr/>
        </p:nvSpPr>
        <p:spPr>
          <a:xfrm>
            <a:off x="457199" y="365670"/>
            <a:ext cx="7239837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종합</a:t>
            </a:r>
            <a:r>
              <a:rPr lang="en-US" sz="440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440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가이드라인</a:t>
            </a:r>
            <a:r>
              <a:rPr lang="en-US" sz="440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및 </a:t>
            </a:r>
            <a:r>
              <a:rPr lang="en-US" sz="440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기대</a:t>
            </a:r>
            <a:r>
              <a:rPr lang="en-US" sz="440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440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효과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5743575"/>
            <a:ext cx="1104900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13470"/>
            <a:ext cx="5429250" cy="1726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1813470"/>
            <a:ext cx="5429250" cy="1726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730823"/>
            <a:ext cx="5429250" cy="1727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91250" y="3730823"/>
            <a:ext cx="5429250" cy="1727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571500" y="476250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연구의 한계점 및 향후 과제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571500" y="103242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결과를 어디까지 일반화할 수 있는가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57250" y="5915025"/>
            <a:ext cx="10525125" cy="26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0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"</a:t>
            </a:r>
            <a:r>
              <a:rPr lang="en-US" sz="1725" b="0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그럼에도</a:t>
            </a:r>
            <a:r>
              <a:rPr lang="en-US" sz="1725" b="0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— </a:t>
            </a:r>
            <a:r>
              <a:rPr lang="en-US" sz="1725" b="1" i="1" u="none" strike="noStrike" cap="none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위치</a:t>
            </a:r>
            <a:r>
              <a:rPr lang="en-US" sz="1725" b="1" i="1" u="none" strike="noStrike" cap="none" dirty="0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 · </a:t>
            </a:r>
            <a:r>
              <a:rPr lang="en-US" sz="1725" b="1" i="1" u="none" strike="noStrike" cap="none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시설</a:t>
            </a:r>
            <a:r>
              <a:rPr lang="en-US" sz="1725" b="1" i="1" u="none" strike="noStrike" cap="none" dirty="0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 · </a:t>
            </a:r>
            <a:r>
              <a:rPr lang="en-US" sz="1725" b="1" i="1" u="none" strike="noStrike" cap="none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지가</a:t>
            </a:r>
            <a:r>
              <a:rPr lang="en-US" sz="1725" b="1" i="1" u="none" strike="noStrike" cap="none" dirty="0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725" b="0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를 </a:t>
            </a:r>
            <a:r>
              <a:rPr lang="en-US" sz="1725" b="0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결합해</a:t>
            </a:r>
            <a:r>
              <a:rPr lang="en-US" sz="1725" b="0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725" b="0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신규</a:t>
            </a:r>
            <a:r>
              <a:rPr lang="en-US" sz="1725" b="0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725" b="0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호스트의</a:t>
            </a:r>
            <a:r>
              <a:rPr lang="en-US" sz="1725" b="0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725" b="1" i="1" u="none" strike="noStrike" cap="none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자본</a:t>
            </a:r>
            <a:r>
              <a:rPr lang="en-US" sz="1725" b="1" i="1" u="none" strike="noStrike" cap="none" dirty="0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725" b="1" i="1" u="none" strike="noStrike" cap="none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효율</a:t>
            </a:r>
            <a:r>
              <a:rPr lang="en-US" sz="1725" b="1" i="1" u="none" strike="noStrike" cap="none" dirty="0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725" b="1" i="1" u="none" strike="noStrike" cap="none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전략</a:t>
            </a:r>
            <a:r>
              <a:rPr lang="en-US" sz="1725" b="1" i="1" u="none" strike="noStrike" cap="none" dirty="0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725" b="0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을 </a:t>
            </a:r>
            <a:r>
              <a:rPr lang="en-US" sz="1725" b="0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정량적으로</a:t>
            </a:r>
            <a:r>
              <a:rPr lang="en-US" sz="1725" b="0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725" b="0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도출한</a:t>
            </a:r>
            <a:r>
              <a:rPr lang="en-US" sz="1725" b="0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데 </a:t>
            </a:r>
            <a:r>
              <a:rPr lang="en-US" sz="1725" b="0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의의</a:t>
            </a:r>
            <a:r>
              <a:rPr lang="en-US" sz="1725" b="0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"</a:t>
            </a:r>
            <a:endParaRPr dirty="0"/>
          </a:p>
        </p:txBody>
      </p:sp>
      <p:sp>
        <p:nvSpPr>
          <p:cNvPr id="126" name="Google Shape;126;p15"/>
          <p:cNvSpPr txBox="1"/>
          <p:nvPr/>
        </p:nvSpPr>
        <p:spPr>
          <a:xfrm>
            <a:off x="1077515" y="2219622"/>
            <a:ext cx="467558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범위 한정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819150" y="2619672"/>
            <a:ext cx="49339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"2~4인용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숙소로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분석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범위를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제한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— 1인 ·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단체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·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대형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숙소에는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직접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적용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어려움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"</a:t>
            </a:r>
            <a:endParaRPr dirty="0"/>
          </a:p>
        </p:txBody>
      </p:sp>
      <p:sp>
        <p:nvSpPr>
          <p:cNvPr id="128" name="Google Shape;128;p15"/>
          <p:cNvSpPr txBox="1"/>
          <p:nvPr/>
        </p:nvSpPr>
        <p:spPr>
          <a:xfrm>
            <a:off x="6697265" y="2235539"/>
            <a:ext cx="4675584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dirty="0">
                <a:solidFill>
                  <a:srgbClr val="2563EB"/>
                </a:solidFill>
                <a:latin typeface="Noto Sans KR"/>
                <a:ea typeface="Noto Sans KR"/>
                <a:sym typeface="Noto Sans KR"/>
              </a:rPr>
              <a:t>INPUT</a:t>
            </a:r>
            <a:r>
              <a:rPr lang="ko-KR" altLang="en-US" sz="1650" b="1" dirty="0">
                <a:solidFill>
                  <a:srgbClr val="2563EB"/>
                </a:solidFill>
                <a:latin typeface="Noto Sans KR"/>
                <a:ea typeface="Noto Sans KR"/>
                <a:sym typeface="Noto Sans KR"/>
              </a:rPr>
              <a:t> 선정</a:t>
            </a:r>
            <a:endParaRPr dirty="0"/>
          </a:p>
        </p:txBody>
      </p:sp>
      <p:sp>
        <p:nvSpPr>
          <p:cNvPr id="129" name="Google Shape;129;p15"/>
          <p:cNvSpPr txBox="1"/>
          <p:nvPr/>
        </p:nvSpPr>
        <p:spPr>
          <a:xfrm>
            <a:off x="6448425" y="2560059"/>
            <a:ext cx="4933950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“</a:t>
            </a:r>
            <a:r>
              <a:rPr lang="ko-KR" altLang="en-US" sz="135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실제 운영 수익성 산정에 필요한 초기 설비</a:t>
            </a:r>
            <a:r>
              <a:rPr lang="en-US" altLang="ko-KR" sz="135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·</a:t>
            </a:r>
            <a:r>
              <a:rPr lang="ko-KR" altLang="en-US" sz="135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인테리어 비용</a:t>
            </a:r>
            <a:r>
              <a:rPr lang="en-US" altLang="ko-KR" sz="135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sz="135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관리비</a:t>
            </a:r>
            <a:r>
              <a:rPr lang="en-US" altLang="ko-KR" sz="135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sz="135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플랫폼 수수료 등 부대비용 데이터가 부재하여 순수익 기반 분석에는 한계가 있음</a:t>
            </a:r>
            <a:r>
              <a:rPr lang="en-US" altLang="ko-KR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”</a:t>
            </a:r>
            <a:endParaRPr dirty="0"/>
          </a:p>
        </p:txBody>
      </p:sp>
      <p:sp>
        <p:nvSpPr>
          <p:cNvPr id="130" name="Google Shape;130;p15"/>
          <p:cNvSpPr txBox="1"/>
          <p:nvPr/>
        </p:nvSpPr>
        <p:spPr>
          <a:xfrm>
            <a:off x="1077515" y="4137124"/>
            <a:ext cx="467558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인과관계 한계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819150" y="4537174"/>
            <a:ext cx="4933950" cy="946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"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슈퍼호스트</a:t>
            </a:r>
            <a:r>
              <a:rPr lang="ko-KR" alt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와 가격의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상관관계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— </a:t>
            </a:r>
            <a:r>
              <a:rPr lang="ko-KR" altLang="en-US" sz="135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슈퍼호스트가</a:t>
            </a:r>
            <a:r>
              <a:rPr lang="ko-KR" altLang="en-US" sz="135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높은 가격을 만드는지</a:t>
            </a:r>
            <a:r>
              <a:rPr lang="en-US" altLang="ko-KR" sz="135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sz="135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이미 좋은 숙소라 </a:t>
            </a:r>
            <a:r>
              <a:rPr lang="ko-KR" altLang="en-US" sz="135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슈퍼호스트가</a:t>
            </a:r>
            <a:r>
              <a:rPr lang="ko-KR" altLang="en-US" sz="135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되지 </a:t>
            </a:r>
            <a:r>
              <a:rPr lang="ko-KR" altLang="en-US" sz="135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쉬웠던건지</a:t>
            </a:r>
            <a:r>
              <a:rPr lang="ko-KR" altLang="en-US" sz="135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불분명</a:t>
            </a:r>
            <a:r>
              <a:rPr lang="en-US" altLang="ko-KR" sz="135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”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 </a:t>
            </a:r>
            <a:endParaRPr dirty="0"/>
          </a:p>
        </p:txBody>
      </p:sp>
      <p:sp>
        <p:nvSpPr>
          <p:cNvPr id="132" name="Google Shape;132;p15"/>
          <p:cNvSpPr txBox="1"/>
          <p:nvPr/>
        </p:nvSpPr>
        <p:spPr>
          <a:xfrm>
            <a:off x="6697265" y="4153041"/>
            <a:ext cx="4675584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시간</a:t>
            </a:r>
            <a:r>
              <a:rPr lang="en-US" sz="1650" b="1" i="0" u="none" strike="noStrike" cap="none" dirty="0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50" b="1" i="0" u="none" strike="noStrike" cap="none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변수</a:t>
            </a:r>
            <a:r>
              <a:rPr lang="en-US" sz="1650" b="1" i="0" u="none" strike="noStrike" cap="none" dirty="0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1650" b="1" i="0" u="none" strike="noStrike" cap="none" dirty="0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및 </a:t>
            </a:r>
            <a:r>
              <a:rPr lang="ko-KR" altLang="en-US" sz="1650"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점유율 </a:t>
            </a:r>
            <a:r>
              <a:rPr lang="en-US" sz="1650" b="1" i="0" u="none" strike="noStrike" cap="none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미포함</a:t>
            </a:r>
            <a:endParaRPr dirty="0"/>
          </a:p>
        </p:txBody>
      </p:sp>
      <p:sp>
        <p:nvSpPr>
          <p:cNvPr id="133" name="Google Shape;133;p15"/>
          <p:cNvSpPr txBox="1"/>
          <p:nvPr/>
        </p:nvSpPr>
        <p:spPr>
          <a:xfrm>
            <a:off x="6438900" y="4537174"/>
            <a:ext cx="493395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"</a:t>
            </a:r>
            <a:r>
              <a:rPr lang="en-US" altLang="ko-KR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"</a:t>
            </a:r>
            <a:r>
              <a:rPr lang="ko-KR" alt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계절</a:t>
            </a:r>
            <a:r>
              <a:rPr lang="en-US" altLang="ko-KR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·</a:t>
            </a:r>
            <a:r>
              <a:rPr lang="ko-KR" alt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이벤트 효과 </a:t>
            </a:r>
            <a:r>
              <a:rPr lang="ko-KR" altLang="en-US" sz="135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미반영</a:t>
            </a:r>
            <a:r>
              <a:rPr lang="ko-KR" alt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altLang="ko-KR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— </a:t>
            </a:r>
            <a:r>
              <a:rPr lang="ko-KR" alt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성수기</a:t>
            </a:r>
            <a:r>
              <a:rPr lang="en-US" altLang="ko-KR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·</a:t>
            </a:r>
            <a:r>
              <a:rPr lang="ko-KR" alt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축제 등 시점별 가격 변동 및 실제 예약 점유율 데이터 부재로</a:t>
            </a:r>
            <a:r>
              <a:rPr lang="en-US" altLang="ko-KR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정적 가격 기준의 분석에 한정됨</a:t>
            </a:r>
            <a:r>
              <a:rPr lang="en-US" altLang="ko-KR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"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”</a:t>
            </a:r>
            <a:endParaRPr dirty="0"/>
          </a:p>
        </p:txBody>
      </p:sp>
      <p:pic>
        <p:nvPicPr>
          <p:cNvPr id="134" name="Google Shape;13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9150" y="2257722"/>
            <a:ext cx="16311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900" y="2257722"/>
            <a:ext cx="16311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19150" y="4175224"/>
            <a:ext cx="16311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900" y="4175224"/>
            <a:ext cx="163115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4"/>
          <p:cNvSpPr txBox="1"/>
          <p:nvPr/>
        </p:nvSpPr>
        <p:spPr>
          <a:xfrm>
            <a:off x="295275" y="1379190"/>
            <a:ext cx="1160145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Thank You!</a:t>
            </a:r>
            <a:endParaRPr/>
          </a:p>
        </p:txBody>
      </p:sp>
      <p:sp>
        <p:nvSpPr>
          <p:cNvPr id="304" name="Google Shape;304;p24"/>
          <p:cNvSpPr/>
          <p:nvPr/>
        </p:nvSpPr>
        <p:spPr>
          <a:xfrm>
            <a:off x="5619750" y="2541240"/>
            <a:ext cx="952500" cy="571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4"/>
          <p:cNvSpPr txBox="1"/>
          <p:nvPr/>
        </p:nvSpPr>
        <p:spPr>
          <a:xfrm>
            <a:off x="571500" y="315084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질문 및 답변</a:t>
            </a:r>
            <a:endParaRPr/>
          </a:p>
        </p:txBody>
      </p:sp>
      <p:sp>
        <p:nvSpPr>
          <p:cNvPr id="306" name="Google Shape;306;p24"/>
          <p:cNvSpPr txBox="1"/>
          <p:nvPr/>
        </p:nvSpPr>
        <p:spPr>
          <a:xfrm>
            <a:off x="571500" y="4587180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도쿄 에어비앤비 가격 결정 요인 분석 프로젝트</a:t>
            </a:r>
            <a:endParaRPr/>
          </a:p>
        </p:txBody>
      </p:sp>
      <p:sp>
        <p:nvSpPr>
          <p:cNvPr id="307" name="Google Shape;307;p24"/>
          <p:cNvSpPr txBox="1"/>
          <p:nvPr/>
        </p:nvSpPr>
        <p:spPr>
          <a:xfrm>
            <a:off x="571500" y="5032920"/>
            <a:ext cx="110490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마이닝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조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09018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816078"/>
            <a:ext cx="5286375" cy="141342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571500" y="2141636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숙소</a:t>
            </a: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내부와</a:t>
            </a: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외부</a:t>
            </a: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환경의</a:t>
            </a: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결합</a:t>
            </a:r>
            <a:endParaRPr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857250" y="2694086"/>
            <a:ext cx="5000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Inside Airbnb: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2~4인용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숙소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12,222개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추출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(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편의시설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수용인원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평점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등)</a:t>
            </a:r>
            <a:endParaRPr dirty="0"/>
          </a:p>
        </p:txBody>
      </p:sp>
      <p:sp>
        <p:nvSpPr>
          <p:cNvPr id="104" name="Google Shape;104;p14"/>
          <p:cNvSpPr txBox="1"/>
          <p:nvPr/>
        </p:nvSpPr>
        <p:spPr>
          <a:xfrm>
            <a:off x="857250" y="3385542"/>
            <a:ext cx="5000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국토교통성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GIS: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일본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전철역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좌표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기반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역까지의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실제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거리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변수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생성</a:t>
            </a:r>
            <a:endParaRPr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857250" y="3999912"/>
            <a:ext cx="50006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도쿄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1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공시지가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지역별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토지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가격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매칭을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통한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투자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가치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판단</a:t>
            </a:r>
            <a:endParaRPr dirty="0"/>
          </a:p>
        </p:txBody>
      </p:sp>
      <p:sp>
        <p:nvSpPr>
          <p:cNvPr id="106" name="Google Shape;106;p14"/>
          <p:cNvSpPr txBox="1"/>
          <p:nvPr/>
        </p:nvSpPr>
        <p:spPr>
          <a:xfrm>
            <a:off x="866775" y="5111353"/>
            <a:ext cx="46958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핵심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1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질문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:</a:t>
            </a:r>
            <a:endParaRPr dirty="0"/>
          </a:p>
        </p:txBody>
      </p:sp>
      <p:sp>
        <p:nvSpPr>
          <p:cNvPr id="107" name="Google Shape;107;p14"/>
          <p:cNvSpPr txBox="1"/>
          <p:nvPr/>
        </p:nvSpPr>
        <p:spPr>
          <a:xfrm>
            <a:off x="866775" y="5385643"/>
            <a:ext cx="46958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"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제한된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자산으로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어떤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위치에서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어떤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옵션을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갖춰야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수익이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극대화되는가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?"</a:t>
            </a:r>
            <a:endParaRPr dirty="0"/>
          </a:p>
        </p:txBody>
      </p:sp>
      <p:sp>
        <p:nvSpPr>
          <p:cNvPr id="108" name="Google Shape;108;p14"/>
          <p:cNvSpPr txBox="1"/>
          <p:nvPr/>
        </p:nvSpPr>
        <p:spPr>
          <a:xfrm>
            <a:off x="762000" y="903535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분석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개요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및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데이터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소스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(</a:t>
            </a:r>
            <a:r>
              <a:rPr lang="ko-KR" alt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삭제</a:t>
            </a:r>
            <a:r>
              <a:rPr lang="en-US" altLang="ko-KR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)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0" name="Google Shape;11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9843" y="2820739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9843" y="3448495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9843" y="4075063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53B5C2F-7F47-C091-1E16-A386D44CD0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4124" y="1909018"/>
            <a:ext cx="5286375" cy="428625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/>
          <p:nvPr/>
        </p:nvSpPr>
        <p:spPr>
          <a:xfrm>
            <a:off x="571500" y="4528393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1672530" y="3596878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510733" y="4092178"/>
            <a:ext cx="25521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01. </a:t>
            </a: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</a:t>
            </a: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전처리</a:t>
            </a:r>
            <a:endParaRPr dirty="0"/>
          </a:p>
        </p:txBody>
      </p:sp>
      <p:sp>
        <p:nvSpPr>
          <p:cNvPr id="121" name="Google Shape;121;p15"/>
          <p:cNvSpPr txBox="1"/>
          <p:nvPr/>
        </p:nvSpPr>
        <p:spPr>
          <a:xfrm>
            <a:off x="571500" y="4644628"/>
            <a:ext cx="2430660" cy="747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GIS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좌표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변환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및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이종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결합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,</a:t>
            </a: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이상치 제거</a:t>
            </a:r>
            <a:endParaRPr lang="en-US" sz="1350" b="0" i="0" u="none" strike="noStrike" cap="none" dirty="0">
              <a:solidFill>
                <a:srgbClr val="33415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4545210" y="3596878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3383413" y="4092178"/>
            <a:ext cx="25521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02. </a:t>
            </a: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모델링</a:t>
            </a:r>
            <a:endParaRPr dirty="0"/>
          </a:p>
        </p:txBody>
      </p:sp>
      <p:sp>
        <p:nvSpPr>
          <p:cNvPr id="124" name="Google Shape;124;p15"/>
          <p:cNvSpPr txBox="1"/>
          <p:nvPr/>
        </p:nvSpPr>
        <p:spPr>
          <a:xfrm>
            <a:off x="3444180" y="4644628"/>
            <a:ext cx="243066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RF, GBM, Ridge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비교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RandomForest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채택</a:t>
            </a:r>
            <a:endParaRPr dirty="0"/>
          </a:p>
        </p:txBody>
      </p:sp>
      <p:sp>
        <p:nvSpPr>
          <p:cNvPr id="125" name="Google Shape;125;p15"/>
          <p:cNvSpPr/>
          <p:nvPr/>
        </p:nvSpPr>
        <p:spPr>
          <a:xfrm>
            <a:off x="7417891" y="3596878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6256094" y="4092178"/>
            <a:ext cx="25521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03. </a:t>
            </a: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심층</a:t>
            </a: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분석</a:t>
            </a:r>
            <a:endParaRPr dirty="0"/>
          </a:p>
        </p:txBody>
      </p:sp>
      <p:sp>
        <p:nvSpPr>
          <p:cNvPr id="127" name="Google Shape;127;p15"/>
          <p:cNvSpPr txBox="1"/>
          <p:nvPr/>
        </p:nvSpPr>
        <p:spPr>
          <a:xfrm>
            <a:off x="6316860" y="4644628"/>
            <a:ext cx="243066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변수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중요도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및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역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거리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시뮬레이션</a:t>
            </a:r>
            <a:endParaRPr dirty="0"/>
          </a:p>
        </p:txBody>
      </p:sp>
      <p:sp>
        <p:nvSpPr>
          <p:cNvPr id="128" name="Google Shape;128;p15"/>
          <p:cNvSpPr/>
          <p:nvPr/>
        </p:nvSpPr>
        <p:spPr>
          <a:xfrm>
            <a:off x="10290571" y="3596878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9128774" y="4092178"/>
            <a:ext cx="25521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04. 전략 도출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9189541" y="4644628"/>
            <a:ext cx="243066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호스트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가이드라인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및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투자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스위트스팟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제안</a:t>
            </a:r>
            <a:endParaRPr dirty="0"/>
          </a:p>
        </p:txBody>
      </p:sp>
      <p:sp>
        <p:nvSpPr>
          <p:cNvPr id="131" name="Google Shape;131;p15"/>
          <p:cNvSpPr txBox="1"/>
          <p:nvPr/>
        </p:nvSpPr>
        <p:spPr>
          <a:xfrm>
            <a:off x="762000" y="903535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분석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프로세스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(</a:t>
            </a:r>
            <a:r>
              <a:rPr lang="ko-KR" alt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삭제</a:t>
            </a:r>
            <a:r>
              <a:rPr lang="en-US" altLang="ko-KR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)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650" y="1817935"/>
            <a:ext cx="3492400" cy="2861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1817935"/>
            <a:ext cx="3492549" cy="2861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1817935"/>
            <a:ext cx="3492400" cy="286122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3"/>
          <p:cNvSpPr txBox="1"/>
          <p:nvPr/>
        </p:nvSpPr>
        <p:spPr>
          <a:xfrm>
            <a:off x="857250" y="2846635"/>
            <a:ext cx="306694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최적</a:t>
            </a:r>
            <a:r>
              <a:rPr lang="en-US" sz="2100" b="1" i="0" u="none" strike="noStrike" cap="none" dirty="0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1" i="0" u="none" strike="noStrike" cap="none" dirty="0" err="1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입지</a:t>
            </a:r>
            <a:endParaRPr dirty="0"/>
          </a:p>
        </p:txBody>
      </p:sp>
      <p:sp>
        <p:nvSpPr>
          <p:cNvPr id="288" name="Google Shape;288;p23"/>
          <p:cNvSpPr txBox="1"/>
          <p:nvPr/>
        </p:nvSpPr>
        <p:spPr>
          <a:xfrm>
            <a:off x="857250" y="3429000"/>
            <a:ext cx="3066944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시나가와</a:t>
            </a:r>
            <a:r>
              <a:rPr lang="en-US" sz="1350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,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타이토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,</a:t>
            </a: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스미다 등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고가</a:t>
            </a:r>
            <a:r>
              <a:rPr lang="en-US" altLang="ko-KR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~</a:t>
            </a: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중위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지역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역과의 거리</a:t>
            </a:r>
            <a:endParaRPr lang="en-US" altLang="ko-KR" sz="1350" b="0" i="0" u="none" strike="noStrike" cap="none" dirty="0">
              <a:solidFill>
                <a:srgbClr val="33415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dirty="0">
                <a:solidFill>
                  <a:srgbClr val="334155"/>
                </a:solidFill>
                <a:latin typeface="Noto Sans KR"/>
                <a:ea typeface="Noto Sans KR"/>
                <a:sym typeface="Noto Sans KR"/>
              </a:rPr>
              <a:t>역으로 </a:t>
            </a:r>
            <a:r>
              <a:rPr lang="ko-KR" altLang="en-US" sz="1350" dirty="0" err="1">
                <a:solidFill>
                  <a:srgbClr val="334155"/>
                </a:solidFill>
                <a:latin typeface="Noto Sans KR"/>
                <a:ea typeface="Noto Sans KR"/>
                <a:sym typeface="Noto Sans KR"/>
              </a:rPr>
              <a:t>부터</a:t>
            </a:r>
            <a:r>
              <a:rPr lang="ko-KR" altLang="en-US" sz="1350" dirty="0">
                <a:solidFill>
                  <a:srgbClr val="334155"/>
                </a:solidFill>
                <a:latin typeface="Noto Sans KR"/>
                <a:ea typeface="Noto Sans KR"/>
                <a:sym typeface="Noto Sans KR"/>
              </a:rPr>
              <a:t> </a:t>
            </a:r>
            <a:r>
              <a:rPr lang="en-US" sz="1350" dirty="0">
                <a:solidFill>
                  <a:srgbClr val="334155"/>
                </a:solidFill>
                <a:latin typeface="Noto Sans KR"/>
                <a:ea typeface="Noto Sans KR"/>
                <a:sym typeface="Noto Sans KR"/>
              </a:rPr>
              <a:t>1.0km~1.25km </a:t>
            </a:r>
            <a:r>
              <a:rPr lang="ko-KR" altLang="en-US" sz="1350" dirty="0">
                <a:solidFill>
                  <a:srgbClr val="334155"/>
                </a:solidFill>
                <a:latin typeface="Noto Sans KR"/>
                <a:ea typeface="Noto Sans KR"/>
                <a:sym typeface="Noto Sans KR"/>
              </a:rPr>
              <a:t>구간에서 숙소 매입</a:t>
            </a:r>
            <a:endParaRPr dirty="0"/>
          </a:p>
        </p:txBody>
      </p:sp>
      <p:sp>
        <p:nvSpPr>
          <p:cNvPr id="289" name="Google Shape;289;p23"/>
          <p:cNvSpPr txBox="1"/>
          <p:nvPr/>
        </p:nvSpPr>
        <p:spPr>
          <a:xfrm>
            <a:off x="4635400" y="2846635"/>
            <a:ext cx="306710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필수 스펙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4635400" y="3399085"/>
            <a:ext cx="2921049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수용인원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3~4인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최적화</a:t>
            </a:r>
            <a:endParaRPr lang="en-US" sz="1350" b="0" i="0" u="none" strike="noStrike" cap="none" dirty="0">
              <a:solidFill>
                <a:srgbClr val="33415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Calibri"/>
                <a:sym typeface="Noto Sans KR"/>
              </a:rPr>
              <a:t>침실 개수 늘리기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TV,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다리미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노트북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데스크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구비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무료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주차장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배제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중심가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타깃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dirty="0"/>
          </a:p>
        </p:txBody>
      </p:sp>
      <p:sp>
        <p:nvSpPr>
          <p:cNvPr id="291" name="Google Shape;291;p23"/>
          <p:cNvSpPr txBox="1"/>
          <p:nvPr/>
        </p:nvSpPr>
        <p:spPr>
          <a:xfrm>
            <a:off x="8413700" y="2846635"/>
            <a:ext cx="306694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운영 전략</a:t>
            </a:r>
            <a:endParaRPr/>
          </a:p>
        </p:txBody>
      </p:sp>
      <p:sp>
        <p:nvSpPr>
          <p:cNvPr id="292" name="Google Shape;292;p23"/>
          <p:cNvSpPr txBox="1"/>
          <p:nvPr/>
        </p:nvSpPr>
        <p:spPr>
          <a:xfrm>
            <a:off x="8413700" y="3399085"/>
            <a:ext cx="2920900" cy="747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슈퍼호스트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목표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관리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중가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숙소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전략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채택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dirty="0"/>
          </a:p>
        </p:txBody>
      </p:sp>
      <p:pic>
        <p:nvPicPr>
          <p:cNvPr id="293" name="Google Shape;293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2179885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35400" y="2179885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13700" y="2179885"/>
            <a:ext cx="29646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3"/>
          <p:cNvSpPr txBox="1"/>
          <p:nvPr/>
        </p:nvSpPr>
        <p:spPr>
          <a:xfrm>
            <a:off x="762000" y="903535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신규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호스트를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위한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종합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가이드라인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(</a:t>
            </a:r>
            <a:r>
              <a:rPr lang="ko-KR" altLang="en-US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삭제</a:t>
            </a:r>
            <a:r>
              <a:rPr lang="en-US" altLang="ko-KR" sz="3150" b="1" i="0" u="none" strike="noStrike" cap="none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)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FF66647-4B24-40F3-862D-3B9735CAA255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40921964-aec8-4fe5-9e9e-1651da44d2d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520</TotalTime>
  <Words>1860</Words>
  <Application>Microsoft Office PowerPoint</Application>
  <PresentationFormat>와이드스크린</PresentationFormat>
  <Paragraphs>221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7" baseType="lpstr">
      <vt:lpstr>Arial</vt:lpstr>
      <vt:lpstr>Calibri</vt:lpstr>
      <vt:lpstr>Poppins</vt:lpstr>
      <vt:lpstr>Noto Sans KR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강시현</cp:lastModifiedBy>
  <cp:revision>14</cp:revision>
  <dcterms:modified xsi:type="dcterms:W3CDTF">2026-06-02T13:21:09Z</dcterms:modified>
</cp:coreProperties>
</file>