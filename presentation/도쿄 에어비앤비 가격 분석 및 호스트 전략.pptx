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80" r:id="rId3"/>
    <p:sldId id="281" r:id="rId4"/>
    <p:sldId id="283" r:id="rId5"/>
    <p:sldId id="260" r:id="rId6"/>
    <p:sldId id="279" r:id="rId7"/>
    <p:sldId id="269" r:id="rId8"/>
    <p:sldId id="261" r:id="rId9"/>
    <p:sldId id="273" r:id="rId10"/>
    <p:sldId id="274" r:id="rId11"/>
    <p:sldId id="262" r:id="rId12"/>
    <p:sldId id="263" r:id="rId13"/>
    <p:sldId id="284" r:id="rId14"/>
    <p:sldId id="285" r:id="rId15"/>
    <p:sldId id="286" r:id="rId16"/>
    <p:sldId id="282" r:id="rId17"/>
    <p:sldId id="277" r:id="rId18"/>
    <p:sldId id="267" r:id="rId19"/>
  </p:sldIdLst>
  <p:sldSz cx="12192000" cy="6858000"/>
  <p:notesSz cx="6858000" cy="9144000"/>
  <p:embeddedFontLst>
    <p:embeddedFont>
      <p:font typeface="Noto Sans KR" panose="020B0200000000000000" pitchFamily="50" charset="-127"/>
      <p:regular r:id="rId21"/>
      <p:bold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FE19FE0-7E50-4F79-8B4B-5D965F6DAC54}">
  <a:tblStyle styleId="{7FE19FE0-7E50-4F79-8B4B-5D965F6DAC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8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D790D180-FD33-EF86-10E0-CDE355A2D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>
            <a:extLst>
              <a:ext uri="{FF2B5EF4-FFF2-40B4-BE49-F238E27FC236}">
                <a16:creationId xmlns:a16="http://schemas.microsoft.com/office/drawing/2014/main" id="{E589F6E5-4EE5-B775-8118-CA3BD4835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>
            <a:extLst>
              <a:ext uri="{FF2B5EF4-FFF2-40B4-BE49-F238E27FC236}">
                <a16:creationId xmlns:a16="http://schemas.microsoft.com/office/drawing/2014/main" id="{970E5332-1F8D-3EE3-F237-CF51AE5335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7893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C01578D6-65C7-512B-366A-C18172AA4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>
            <a:extLst>
              <a:ext uri="{FF2B5EF4-FFF2-40B4-BE49-F238E27FC236}">
                <a16:creationId xmlns:a16="http://schemas.microsoft.com/office/drawing/2014/main" id="{0ADAA17A-7692-1982-8930-1C95A9686F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>
            <a:extLst>
              <a:ext uri="{FF2B5EF4-FFF2-40B4-BE49-F238E27FC236}">
                <a16:creationId xmlns:a16="http://schemas.microsoft.com/office/drawing/2014/main" id="{49D4255E-9DA7-13F8-74BE-A69E3F27F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134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6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6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4250" y="3854648"/>
            <a:ext cx="238125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854648"/>
            <a:ext cx="238125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1252686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DATA MINING PROJECT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95275" y="2037457"/>
            <a:ext cx="1160145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도쿄</a:t>
            </a:r>
            <a:r>
              <a:rPr lang="en-US" sz="48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에어비앤비</a:t>
            </a:r>
            <a:r>
              <a:rPr lang="en-US" sz="48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가격</a:t>
            </a:r>
            <a:r>
              <a:rPr lang="en-US" sz="48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결정</a:t>
            </a:r>
            <a:r>
              <a:rPr lang="en-US" sz="48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요인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US" sz="4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데이터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기반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호스트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전략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수립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762000" y="1524000"/>
            <a:ext cx="6400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왜 도쿄 에어비앤비인가?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62000" y="4769643"/>
            <a:ext cx="6400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목적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95020" y="2057400"/>
            <a:ext cx="5972175" cy="7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일본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인바운드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관광객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2023년 2,507만 명 —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코로나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이후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급반등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숙박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수요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폭증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95020" y="2897981"/>
            <a:ext cx="5972175" cy="7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에어비앤비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신규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진입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증가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그러나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가격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책정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기준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없이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감에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의존하는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현실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995020" y="3738562"/>
            <a:ext cx="5972175" cy="7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정보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비대칭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어느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위치에서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어떤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옵션을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갖춰야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수익이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나는지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근거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부재</a:t>
            </a:r>
            <a:endParaRPr dirty="0"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58075" y="1798099"/>
            <a:ext cx="3943350" cy="356114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57200" y="365670"/>
            <a:ext cx="4319337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배경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및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분석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목적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764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1703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7576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F9B8408-87F1-7BC4-0FDB-39FED78EF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625" y="5150643"/>
            <a:ext cx="5285690" cy="1414395"/>
          </a:xfrm>
          <a:prstGeom prst="rect">
            <a:avLst/>
          </a:prstGeom>
        </p:spPr>
      </p:pic>
      <p:sp>
        <p:nvSpPr>
          <p:cNvPr id="6" name="Google Shape;107;p14">
            <a:extLst>
              <a:ext uri="{FF2B5EF4-FFF2-40B4-BE49-F238E27FC236}">
                <a16:creationId xmlns:a16="http://schemas.microsoft.com/office/drawing/2014/main" id="{B83438B3-6AC6-A555-D071-083932407C68}"/>
              </a:ext>
            </a:extLst>
          </p:cNvPr>
          <p:cNvSpPr txBox="1"/>
          <p:nvPr/>
        </p:nvSpPr>
        <p:spPr>
          <a:xfrm>
            <a:off x="1614487" y="5359242"/>
            <a:ext cx="469582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＂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 </a:t>
            </a:r>
            <a:r>
              <a:rPr lang="ko-KR" alt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에어비앤비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가격 결정 요인을 분석하여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제한된 자본을 </a:t>
            </a:r>
            <a:endParaRPr lang="en-US" altLang="ko-KR" sz="1350" b="0" i="0" u="none" strike="noStrike" cap="none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    가진 신규 호스트가 수익을 극대화 할 수 있는 최적의</a:t>
            </a:r>
            <a:endParaRPr lang="en-US" altLang="ko-KR" sz="1350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     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입지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시설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운영 전력을 정량적으로 제시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24000"/>
            <a:ext cx="33971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1524000"/>
            <a:ext cx="3397299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2700" y="1524000"/>
            <a:ext cx="33971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057275" y="1819275"/>
            <a:ext cx="28066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① Inside Airbnb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57275" y="2295525"/>
            <a:ext cx="2806600" cy="158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출처: insideairbnb.com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수집 시점: 2024년 기준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원본 행 수: 약 17,000개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분석 사용: 12,222개 (2~4인용)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주요 변수: 가격, 수용인원, 편의시설, 평점, 호스트 정보, 위치 좌표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92550" y="1819275"/>
            <a:ext cx="280674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② 국토교통성 GIS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92550" y="2295525"/>
            <a:ext cx="2806749" cy="1159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출처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일본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국토</a:t>
            </a:r>
            <a:r>
              <a:rPr lang="ko-KR" alt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교통성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국토수치정보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전국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철도역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좌표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위경도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권역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역 수: 662개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활용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최근접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역까지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거리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(m)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계산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방식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위경도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유클리드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근사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8327975" y="1819275"/>
            <a:ext cx="28066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③ 도쿄 공시지가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327975" y="2295525"/>
            <a:ext cx="2806600" cy="1159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출처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일본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국토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지가공시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단위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엔/㎡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커버리지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47개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구·시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활용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숙소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위치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기준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nearest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매칭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목적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투자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비용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대비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수익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효율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산출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457200" y="365670"/>
            <a:ext cx="3092116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데이터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소개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7CA702-4F75-F653-1EAE-DC16019644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854" y="4321305"/>
            <a:ext cx="3030439" cy="18816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89BCAA-B3A5-9D27-E2C8-1600BA0077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3848" y="4321305"/>
            <a:ext cx="3044152" cy="18816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C5FE7FD-A483-753C-8846-9EDCEE7A622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945" b="19390"/>
          <a:stretch>
            <a:fillRect/>
          </a:stretch>
        </p:blipFill>
        <p:spPr>
          <a:xfrm>
            <a:off x="8100544" y="4321305"/>
            <a:ext cx="3174602" cy="1881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199655"/>
            <a:ext cx="112776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5085605"/>
            <a:ext cx="112776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1456580"/>
            <a:ext cx="2676525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24225" y="1456580"/>
            <a:ext cx="2676525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1456580"/>
            <a:ext cx="2676525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58275" y="1456580"/>
            <a:ext cx="2676525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3075830"/>
            <a:ext cx="21812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3523505"/>
            <a:ext cx="19050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08796" y="3509218"/>
            <a:ext cx="19050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55592" y="3509218"/>
            <a:ext cx="190500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657225" y="1656605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01. 데이터 전처리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57225" y="2132855"/>
            <a:ext cx="22764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GIS 좌표 변환 및 이종 데이터 결합, 이상치 제거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524250" y="1656605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02. 모델링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524250" y="2132855"/>
            <a:ext cx="22764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RF, GBM, Ridge 비교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RandomForest 채택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391275" y="1656605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03. 심층 분석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6391275" y="2132855"/>
            <a:ext cx="22764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변수 중요도 및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역 거리 시뮬레이션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9258300" y="1656605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04. 전략 도출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9258300" y="2132855"/>
            <a:ext cx="22764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 가이드라인 및 투자 스위트스팟 제안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942975" y="5285630"/>
            <a:ext cx="10496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GIS 결합:</a:t>
            </a: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각 숙소 좌표 기준 662개 역 중 최근접 역까지의 직선거리(m)를 계산하여 dist_to_station 변수 생성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942975" y="5590430"/>
            <a:ext cx="10496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지가 결합:</a:t>
            </a: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숙소 위치 기준 가장 가까운 공시지가 측정 포인트의 값을 land_price로 매칭 (Nearest Neighbor 방식)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914400" y="3675905"/>
            <a:ext cx="1600200" cy="19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1" i="0" u="none" strike="noStrike" cap="none" dirty="0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Inside Airbnb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1123282" y="3923457"/>
            <a:ext cx="116309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숙소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위도·경도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/>
                <a:sym typeface="Calibri"/>
              </a:rPr>
            </a:b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12,222행 × 70개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8" name="Google Shape;108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130748" y="3802856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2790291" y="3983831"/>
            <a:ext cx="849365" cy="30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9" b="1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각 숙소와 </a:t>
            </a:r>
            <a:endParaRPr lang="en-US" altLang="ko-KR" sz="999" b="1" i="0" u="none" strike="noStrike" cap="none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9" b="1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역 </a:t>
            </a:r>
            <a:r>
              <a:rPr lang="en-US" sz="999" b="1" i="0" u="none" strike="noStrike" cap="none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위경도</a:t>
            </a:r>
            <a:r>
              <a:rPr lang="en-US" sz="999" b="1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999" b="1" i="0" u="none" strike="noStrike" cap="none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계산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861196" y="3661618"/>
            <a:ext cx="1600200" cy="19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1" i="0" u="none" strike="noStrike" cap="none" dirty="0" err="1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국토교통성</a:t>
            </a:r>
            <a:r>
              <a:rPr lang="en-US" sz="1299" b="1" i="0" u="none" strike="noStrike" cap="none" dirty="0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GIS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4069705" y="3947368"/>
            <a:ext cx="118303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역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위도·경도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662개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/>
                <a:sym typeface="Calibri"/>
              </a:rPr>
            </a:b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dist_to_station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2" name="Google Shape;112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77545" y="3802856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5709939" y="3977431"/>
            <a:ext cx="868267" cy="30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9" b="1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숙소와 공시지가</a:t>
            </a:r>
            <a:r>
              <a:rPr lang="en-US" sz="999" b="1" i="0" u="none" strike="noStrike" cap="none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최근접</a:t>
            </a:r>
            <a:r>
              <a:rPr lang="en-US" sz="999" b="1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999" b="1" i="0" u="none" strike="noStrike" cap="none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매칭</a:t>
            </a:r>
            <a:endParaRPr lang="en-US" sz="999" b="1" i="0" u="none" strike="noStrike" cap="none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  <a:sym typeface="Times New Roman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6807993" y="3656855"/>
            <a:ext cx="1600200" cy="19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1" i="0" u="none" strike="noStrike" cap="none" dirty="0" err="1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도쿄</a:t>
            </a:r>
            <a:r>
              <a:rPr lang="en-US" sz="1299" b="1" i="0" u="none" strike="noStrike" cap="none" dirty="0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299" b="1" i="0" u="none" strike="noStrike" cap="none" dirty="0" err="1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공시지가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6978401" y="3942605"/>
            <a:ext cx="12593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구·시별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지가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포인트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/>
                <a:sym typeface="Calibri"/>
              </a:rPr>
            </a:b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land_price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매칭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6" name="Google Shape;116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962429" y="3802856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 txBox="1"/>
          <p:nvPr/>
        </p:nvSpPr>
        <p:spPr>
          <a:xfrm>
            <a:off x="8756005" y="3977431"/>
            <a:ext cx="527149" cy="15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1" i="0" u="none" strike="noStrike" cap="none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최종</a:t>
            </a:r>
            <a:r>
              <a:rPr lang="en-US" sz="999" b="1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999" b="1" i="0" u="none" strike="noStrike" cap="none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병합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752475" y="5285630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752475" y="5590430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457200" y="365670"/>
            <a:ext cx="11734800" cy="74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데이터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통합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및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분석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프로세스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oogle Shape;94;p13" descr="image.png">
            <a:extLst>
              <a:ext uri="{FF2B5EF4-FFF2-40B4-BE49-F238E27FC236}">
                <a16:creationId xmlns:a16="http://schemas.microsoft.com/office/drawing/2014/main" id="{6162669C-FCBB-5FC6-34A2-D81D3BB6CF40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398198" y="3523505"/>
            <a:ext cx="190500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3">
            <a:extLst>
              <a:ext uri="{FF2B5EF4-FFF2-40B4-BE49-F238E27FC236}">
                <a16:creationId xmlns:a16="http://schemas.microsoft.com/office/drawing/2014/main" id="{2622E919-2688-21D1-6936-1CDF1313AD0E}"/>
              </a:ext>
            </a:extLst>
          </p:cNvPr>
          <p:cNvSpPr txBox="1"/>
          <p:nvPr/>
        </p:nvSpPr>
        <p:spPr>
          <a:xfrm>
            <a:off x="9550598" y="3656855"/>
            <a:ext cx="1600200" cy="19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9" b="1" i="0" u="none" strike="noStrike" cap="none" dirty="0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최종 분석 데이터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Google Shape;115;p13">
            <a:extLst>
              <a:ext uri="{FF2B5EF4-FFF2-40B4-BE49-F238E27FC236}">
                <a16:creationId xmlns:a16="http://schemas.microsoft.com/office/drawing/2014/main" id="{9585AF97-1A4B-94C7-0240-D7257DB086E6}"/>
              </a:ext>
            </a:extLst>
          </p:cNvPr>
          <p:cNvSpPr txBox="1"/>
          <p:nvPr/>
        </p:nvSpPr>
        <p:spPr>
          <a:xfrm>
            <a:off x="9711777" y="3937382"/>
            <a:ext cx="12593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가격 </a:t>
            </a:r>
            <a:r>
              <a:rPr lang="en-US" altLang="ko-KR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+ 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위치 </a:t>
            </a:r>
            <a:r>
              <a:rPr lang="en-US" altLang="ko-KR" sz="11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+ </a:t>
            </a:r>
            <a:r>
              <a:rPr lang="ko-KR" altLang="en-US" sz="11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지가 통합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17"/>
          <p:cNvGraphicFramePr/>
          <p:nvPr>
            <p:extLst>
              <p:ext uri="{D42A27DB-BD31-4B8C-83A1-F6EECF244321}">
                <p14:modId xmlns:p14="http://schemas.microsoft.com/office/powerpoint/2010/main" val="1215075372"/>
              </p:ext>
            </p:extLst>
          </p:nvPr>
        </p:nvGraphicFramePr>
        <p:xfrm>
          <a:off x="6036884" y="2222896"/>
          <a:ext cx="5556113" cy="37528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74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변수</a:t>
                      </a:r>
                      <a:r>
                        <a:rPr lang="en-US" sz="1400" b="1" i="0" u="none" strike="noStrike" cap="none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그룹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</a:t>
                      </a:r>
                      <a:r>
                        <a:rPr lang="en-US" sz="1400" b="1" i="0" u="none" strike="noStrike" cap="none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변수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위치 (Location)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dist_to_station, dist_to_Tokyo, land_price 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내부 스펙 (Spec)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accommodates, bedrooms, room_type, 편의시설 7종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리뷰 (Review)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review_scores_rating, cleanliness 등 7종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호스트</a:t>
                      </a:r>
                      <a:r>
                        <a:rPr lang="en-US" sz="1400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(Host)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host_is_superhost</a:t>
                      </a:r>
                      <a:r>
                        <a:rPr lang="en-US" sz="14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en-US" sz="1400" b="0" i="0" u="none" strike="noStrike" cap="none" dirty="0" err="1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response_rate</a:t>
                      </a:r>
                      <a:r>
                        <a:rPr lang="en-US" sz="14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en-US" sz="1400" b="0" i="0" u="none" strike="noStrike" cap="none" dirty="0" err="1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acceptance_rate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6" name="Google Shape;166;p17"/>
          <p:cNvSpPr txBox="1"/>
          <p:nvPr/>
        </p:nvSpPr>
        <p:spPr>
          <a:xfrm>
            <a:off x="762000" y="1524000"/>
            <a:ext cx="467588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Instance (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단위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67" name="Google Shape;167;p17"/>
          <p:cNvSpPr txBox="1"/>
          <p:nvPr/>
        </p:nvSpPr>
        <p:spPr>
          <a:xfrm>
            <a:off x="762000" y="3286125"/>
            <a:ext cx="467588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Output (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예측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대상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68" name="Google Shape;168;p17"/>
          <p:cNvSpPr txBox="1"/>
          <p:nvPr/>
        </p:nvSpPr>
        <p:spPr>
          <a:xfrm>
            <a:off x="762000" y="4800600"/>
            <a:ext cx="467588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Task 유형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823644" y="2953940"/>
            <a:ext cx="15202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7343923" y="2953940"/>
            <a:ext cx="4081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5823644" y="3818334"/>
            <a:ext cx="15202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343923" y="3818334"/>
            <a:ext cx="4081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5823644" y="4398168"/>
            <a:ext cx="15202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7343923" y="4398168"/>
            <a:ext cx="4081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823644" y="5262562"/>
            <a:ext cx="15202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7343923" y="5262562"/>
            <a:ext cx="4081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457200" y="365670"/>
            <a:ext cx="499062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분석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Formulation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E4E05AD-E14B-AD4E-4FD2-461277421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931115"/>
            <a:ext cx="4675882" cy="132889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A8D83D2-07AF-2AEE-DB34-90B353343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1" y="3665969"/>
            <a:ext cx="4675882" cy="113463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D5F4390-9A8B-7546-5253-58E117857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10" y="5180445"/>
            <a:ext cx="4627572" cy="1414395"/>
          </a:xfrm>
          <a:prstGeom prst="rect">
            <a:avLst/>
          </a:prstGeom>
        </p:spPr>
      </p:pic>
      <p:sp>
        <p:nvSpPr>
          <p:cNvPr id="5" name="Google Shape;107;p14">
            <a:extLst>
              <a:ext uri="{FF2B5EF4-FFF2-40B4-BE49-F238E27FC236}">
                <a16:creationId xmlns:a16="http://schemas.microsoft.com/office/drawing/2014/main" id="{5A82854D-E185-52F1-97B6-EC772BDBCEBB}"/>
              </a:ext>
            </a:extLst>
          </p:cNvPr>
          <p:cNvSpPr txBox="1"/>
          <p:nvPr/>
        </p:nvSpPr>
        <p:spPr>
          <a:xfrm>
            <a:off x="1127819" y="2222896"/>
            <a:ext cx="469582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 </a:t>
            </a:r>
            <a:r>
              <a:rPr lang="ko-KR" alt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에에비앤비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숙소 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개 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= instance / 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총 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12,222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개 사용</a:t>
            </a:r>
            <a:endParaRPr lang="en-US" altLang="ko-KR" sz="1350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범위 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: 2~4</a:t>
            </a:r>
            <a:r>
              <a:rPr lang="ko-KR" altLang="en-US" sz="1350" dirty="0" err="1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인욕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 숙소로 한정</a:t>
            </a:r>
            <a:endParaRPr dirty="0"/>
          </a:p>
        </p:txBody>
      </p:sp>
      <p:sp>
        <p:nvSpPr>
          <p:cNvPr id="6" name="Google Shape;107;p14">
            <a:extLst>
              <a:ext uri="{FF2B5EF4-FFF2-40B4-BE49-F238E27FC236}">
                <a16:creationId xmlns:a16="http://schemas.microsoft.com/office/drawing/2014/main" id="{E5D28E2A-CE62-50B1-ACBB-66CD9FA236FA}"/>
              </a:ext>
            </a:extLst>
          </p:cNvPr>
          <p:cNvSpPr txBox="1"/>
          <p:nvPr/>
        </p:nvSpPr>
        <p:spPr>
          <a:xfrm>
            <a:off x="1127819" y="3827859"/>
            <a:ext cx="4167662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박 가격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엔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 – 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연속형 수치 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– 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회귀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(Regression)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</a:t>
            </a:r>
            <a:endParaRPr lang="en-US" altLang="ko-KR" sz="1350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로그 변환 후 예측 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– </a:t>
            </a:r>
            <a:r>
              <a:rPr lang="ko-KR" altLang="en-US" sz="1350" dirty="0" err="1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역변환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 도출 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(log1p/expm1)</a:t>
            </a:r>
            <a:endParaRPr dirty="0"/>
          </a:p>
        </p:txBody>
      </p:sp>
      <p:sp>
        <p:nvSpPr>
          <p:cNvPr id="7" name="Google Shape;107;p14">
            <a:extLst>
              <a:ext uri="{FF2B5EF4-FFF2-40B4-BE49-F238E27FC236}">
                <a16:creationId xmlns:a16="http://schemas.microsoft.com/office/drawing/2014/main" id="{E3497C3E-2BB6-2B04-2B21-CA678DD124A2}"/>
              </a:ext>
            </a:extLst>
          </p:cNvPr>
          <p:cNvSpPr txBox="1"/>
          <p:nvPr/>
        </p:nvSpPr>
        <p:spPr>
          <a:xfrm>
            <a:off x="1127819" y="5471358"/>
            <a:ext cx="469582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upervised Leaning – Regression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모델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: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RandomForest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 /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GradientBoosting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 / Ridge </a:t>
            </a:r>
            <a:endParaRPr dirty="0"/>
          </a:p>
        </p:txBody>
      </p:sp>
      <p:sp>
        <p:nvSpPr>
          <p:cNvPr id="8" name="Google Shape;166;p17">
            <a:extLst>
              <a:ext uri="{FF2B5EF4-FFF2-40B4-BE49-F238E27FC236}">
                <a16:creationId xmlns:a16="http://schemas.microsoft.com/office/drawing/2014/main" id="{1E60E85A-238A-A880-FEAD-10CF94580030}"/>
              </a:ext>
            </a:extLst>
          </p:cNvPr>
          <p:cNvSpPr txBox="1"/>
          <p:nvPr/>
        </p:nvSpPr>
        <p:spPr>
          <a:xfrm>
            <a:off x="6096000" y="1552917"/>
            <a:ext cx="467588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DFEFDFC0-E5C9-0F25-CA69-29927124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>
            <a:extLst>
              <a:ext uri="{FF2B5EF4-FFF2-40B4-BE49-F238E27FC236}">
                <a16:creationId xmlns:a16="http://schemas.microsoft.com/office/drawing/2014/main" id="{8334F7BF-6B8A-F5D2-5D47-C4AAB0E6DE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>
            <a:extLst>
              <a:ext uri="{FF2B5EF4-FFF2-40B4-BE49-F238E27FC236}">
                <a16:creationId xmlns:a16="http://schemas.microsoft.com/office/drawing/2014/main" id="{AE84A471-E9E3-F602-65DD-E7BD722104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>
            <a:extLst>
              <a:ext uri="{FF2B5EF4-FFF2-40B4-BE49-F238E27FC236}">
                <a16:creationId xmlns:a16="http://schemas.microsoft.com/office/drawing/2014/main" id="{E10F6034-388C-84D1-E483-32961DF0497B}"/>
              </a:ext>
            </a:extLst>
          </p:cNvPr>
          <p:cNvSpPr txBox="1"/>
          <p:nvPr/>
        </p:nvSpPr>
        <p:spPr>
          <a:xfrm>
            <a:off x="582215" y="1997518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다중공선성</a:t>
            </a:r>
            <a:r>
              <a:rPr lang="ko-KR" alt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확인 및 제외 근거</a:t>
            </a:r>
            <a:endParaRPr dirty="0"/>
          </a:p>
        </p:txBody>
      </p:sp>
      <p:sp>
        <p:nvSpPr>
          <p:cNvPr id="161" name="Google Shape;161;p17">
            <a:extLst>
              <a:ext uri="{FF2B5EF4-FFF2-40B4-BE49-F238E27FC236}">
                <a16:creationId xmlns:a16="http://schemas.microsoft.com/office/drawing/2014/main" id="{1A74FE3B-071A-9855-D2F6-E30F5EB67E52}"/>
              </a:ext>
            </a:extLst>
          </p:cNvPr>
          <p:cNvSpPr txBox="1"/>
          <p:nvPr/>
        </p:nvSpPr>
        <p:spPr>
          <a:xfrm>
            <a:off x="714372" y="5622066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신주쿠는 단순 이상치가 아닌 구조적 중복 문제로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기반 근거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(r=0.90)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를 통해 제외를 결정한 능동적 </a:t>
            </a:r>
            <a:r>
              <a:rPr lang="ko-KR" alt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전처리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의사결정</a:t>
            </a:r>
            <a:endParaRPr lang="en-US" sz="1350" b="0" i="0" u="none" strike="noStrike" cap="none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3" name="Google Shape;163;p17">
            <a:extLst>
              <a:ext uri="{FF2B5EF4-FFF2-40B4-BE49-F238E27FC236}">
                <a16:creationId xmlns:a16="http://schemas.microsoft.com/office/drawing/2014/main" id="{321B9B45-E6BF-6FB2-C641-D68F5FF2B408}"/>
              </a:ext>
            </a:extLst>
          </p:cNvPr>
          <p:cNvSpPr txBox="1"/>
          <p:nvPr/>
        </p:nvSpPr>
        <p:spPr>
          <a:xfrm>
            <a:off x="857250" y="2691402"/>
            <a:ext cx="5000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신주쿠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-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시부야 거리 상관계수 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0.90 </a:t>
            </a:r>
            <a:r>
              <a:rPr lang="ko-KR" altLang="en-US" sz="135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ㅡ</a:t>
            </a:r>
            <a:r>
              <a:rPr lang="ko-KR" altLang="en-US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사실상 동일 생활권</a:t>
            </a:r>
            <a:r>
              <a:rPr lang="en-US" altLang="ko-KR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독립적 설명력 없음</a:t>
            </a:r>
            <a:endParaRPr dirty="0"/>
          </a:p>
        </p:txBody>
      </p:sp>
      <p:sp>
        <p:nvSpPr>
          <p:cNvPr id="164" name="Google Shape;164;p17">
            <a:extLst>
              <a:ext uri="{FF2B5EF4-FFF2-40B4-BE49-F238E27FC236}">
                <a16:creationId xmlns:a16="http://schemas.microsoft.com/office/drawing/2014/main" id="{1DA82DB3-4B8A-B35D-62E8-5C8D0C1AF802}"/>
              </a:ext>
            </a:extLst>
          </p:cNvPr>
          <p:cNvSpPr txBox="1"/>
          <p:nvPr/>
        </p:nvSpPr>
        <p:spPr>
          <a:xfrm>
            <a:off x="857248" y="3518771"/>
            <a:ext cx="5000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2. 3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개 데이터셋 병합 시 신주쿠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시부야 일대 중복 숙소 과다 </a:t>
            </a:r>
            <a:r>
              <a:rPr lang="ko-KR" altLang="en-US" sz="135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ㅡ과대</a:t>
            </a:r>
            <a:r>
              <a:rPr lang="ko-KR" altLang="en-US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대표로 모델 편향 유발</a:t>
            </a:r>
            <a:endParaRPr dirty="0"/>
          </a:p>
        </p:txBody>
      </p:sp>
      <p:sp>
        <p:nvSpPr>
          <p:cNvPr id="165" name="Google Shape;165;p17">
            <a:extLst>
              <a:ext uri="{FF2B5EF4-FFF2-40B4-BE49-F238E27FC236}">
                <a16:creationId xmlns:a16="http://schemas.microsoft.com/office/drawing/2014/main" id="{D6F4F711-4594-01C4-7E79-65FD19868A63}"/>
              </a:ext>
            </a:extLst>
          </p:cNvPr>
          <p:cNvSpPr txBox="1"/>
          <p:nvPr/>
        </p:nvSpPr>
        <p:spPr>
          <a:xfrm>
            <a:off x="857248" y="4346140"/>
            <a:ext cx="5000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3. 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신주쿠역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-</a:t>
            </a:r>
            <a:r>
              <a:rPr lang="ko-KR" alt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시부야역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직선거리 약 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2.5km </a:t>
            </a:r>
            <a:r>
              <a:rPr lang="en-US" altLang="ko-KR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—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실질 상권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생활권이 겹쳐 별도 변수로서 의미 적음</a:t>
            </a:r>
            <a:endParaRPr dirty="0"/>
          </a:p>
        </p:txBody>
      </p:sp>
      <p:sp>
        <p:nvSpPr>
          <p:cNvPr id="167" name="Google Shape;167;p17">
            <a:extLst>
              <a:ext uri="{FF2B5EF4-FFF2-40B4-BE49-F238E27FC236}">
                <a16:creationId xmlns:a16="http://schemas.microsoft.com/office/drawing/2014/main" id="{0337E52A-705F-6BCC-5926-7C814E42C2E1}"/>
              </a:ext>
            </a:extLst>
          </p:cNvPr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데이터 </a:t>
            </a:r>
            <a:r>
              <a:rPr lang="ko-KR" alt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전처리</a:t>
            </a: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특이사항 </a:t>
            </a:r>
            <a:r>
              <a:rPr lang="en-US" altLang="ko-KR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— </a:t>
            </a: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신주쿠와의 거리 변수 제외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4FAC9DD-0F3B-0D29-1AE9-6670CCE1A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4994" y="1688009"/>
            <a:ext cx="5411066" cy="487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64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2631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357116"/>
            <a:ext cx="5286375" cy="262696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6334125" y="208463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예측력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확보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(R²=0.68)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6334125" y="263708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단순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선형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회귀보다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비선형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관계를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잘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포착하는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RandomForest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모델이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가장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우수한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성적을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기록했습니다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6334125" y="6126956"/>
            <a:ext cx="52863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분류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검증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고가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중가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숙소의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예측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정확도가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특히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높게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나타남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</a:p>
          <a:p>
            <a:pPr marL="171450" marR="0" lvl="0" indent="-17145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"5-Fold </a:t>
            </a:r>
            <a:r>
              <a:rPr lang="ko-KR" alt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교차검증으로 </a:t>
            </a:r>
            <a:r>
              <a:rPr lang="ko-KR" alt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과적합</a:t>
            </a:r>
            <a:r>
              <a:rPr lang="ko-KR" alt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여부 확인 </a:t>
            </a:r>
            <a:r>
              <a:rPr lang="en-US" altLang="ko-KR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— Train/Test </a:t>
            </a:r>
            <a:r>
              <a:rPr lang="ko-KR" alt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차이 안정적</a:t>
            </a:r>
            <a:r>
              <a:rPr lang="en-US" altLang="ko-KR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lang="en-US" sz="1050" b="0" i="0" u="none" strike="noStrike" cap="none" dirty="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629400" y="3685726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주요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지표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endParaRPr dirty="0"/>
          </a:p>
        </p:txBody>
      </p:sp>
      <p:graphicFrame>
        <p:nvGraphicFramePr>
          <p:cNvPr id="145" name="Google Shape;145;p16"/>
          <p:cNvGraphicFramePr/>
          <p:nvPr>
            <p:extLst>
              <p:ext uri="{D42A27DB-BD31-4B8C-83A1-F6EECF244321}">
                <p14:modId xmlns:p14="http://schemas.microsoft.com/office/powerpoint/2010/main" val="201750968"/>
              </p:ext>
            </p:extLst>
          </p:nvPr>
        </p:nvGraphicFramePr>
        <p:xfrm>
          <a:off x="6754091" y="4102891"/>
          <a:ext cx="3596488" cy="1585917"/>
        </p:xfrm>
        <a:graphic>
          <a:graphicData uri="http://schemas.openxmlformats.org/drawingml/2006/table">
            <a:tbl>
              <a:tblPr>
                <a:noFill/>
                <a:tableStyleId>{7FE19FE0-7E50-4F79-8B4B-5D965F6DAC54}</a:tableStyleId>
              </a:tblPr>
              <a:tblGrid>
                <a:gridCol w="145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Ridge (L2)</a:t>
                      </a:r>
                      <a:endParaRPr dirty="0"/>
                    </a:p>
                  </a:txBody>
                  <a:tcPr marL="63500" marR="635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0.47    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선형관계만 포착</a:t>
                      </a:r>
                      <a:endParaRPr dirty="0"/>
                    </a:p>
                  </a:txBody>
                  <a:tcPr marL="63500" marR="635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Gradient Boosting</a:t>
                      </a:r>
                      <a:endParaRPr dirty="0"/>
                    </a:p>
                  </a:txBody>
                  <a:tcPr marL="63500" marR="635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    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순차학습</a:t>
                      </a:r>
                      <a:r>
                        <a:rPr lang="en-US" altLang="ko-KR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느림</a:t>
                      </a:r>
                      <a:endParaRPr dirty="0"/>
                    </a:p>
                  </a:txBody>
                  <a:tcPr marL="63500" marR="635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B82F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Random Forest</a:t>
                      </a:r>
                      <a:endParaRPr dirty="0"/>
                    </a:p>
                  </a:txBody>
                  <a:tcPr marL="63500" marR="635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B82F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0.68      </a:t>
                      </a:r>
                      <a:r>
                        <a:rPr lang="ko-KR" altLang="en-US" sz="1200" b="1" i="0" u="none" strike="noStrike" cap="none" dirty="0">
                          <a:solidFill>
                            <a:srgbClr val="3B82F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최종채택</a:t>
                      </a:r>
                      <a:endParaRPr dirty="0"/>
                    </a:p>
                  </a:txBody>
                  <a:tcPr marL="63500" marR="635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6" name="Google Shape;146;p16"/>
          <p:cNvSpPr/>
          <p:nvPr/>
        </p:nvSpPr>
        <p:spPr>
          <a:xfrm>
            <a:off x="6629400" y="4741068"/>
            <a:ext cx="3386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10015537" y="4741068"/>
            <a:ext cx="13096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629400" y="5207793"/>
            <a:ext cx="3386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10015537" y="5207793"/>
            <a:ext cx="13096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629400" y="5674518"/>
            <a:ext cx="3386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10015537" y="5674518"/>
            <a:ext cx="13096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모델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성능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및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검증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(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RandomForest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24F275-6E14-B8CB-BCC7-877C0D7B30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76" y="2002631"/>
            <a:ext cx="5286375" cy="43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71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568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597771"/>
            <a:ext cx="257175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0" y="3597771"/>
            <a:ext cx="257175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893171"/>
            <a:ext cx="257175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0" y="4893171"/>
            <a:ext cx="257175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6334125" y="2325290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압도적인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입지의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가치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(49.6%)</a:t>
            </a:r>
            <a:endParaRPr dirty="0"/>
          </a:p>
        </p:txBody>
      </p:sp>
      <p:sp>
        <p:nvSpPr>
          <p:cNvPr id="185" name="Google Shape;185;p18"/>
          <p:cNvSpPr txBox="1"/>
          <p:nvPr/>
        </p:nvSpPr>
        <p:spPr>
          <a:xfrm>
            <a:off x="6334125" y="287774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변수를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성격별로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5개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그룹으로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묶어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분석한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입지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조건이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가격의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절반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설명합니다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86" name="Google Shape;186;p18"/>
          <p:cNvSpPr txBox="1"/>
          <p:nvPr/>
        </p:nvSpPr>
        <p:spPr>
          <a:xfrm>
            <a:off x="6524625" y="3788271"/>
            <a:ext cx="2190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49.6%</a:t>
            </a:r>
            <a:endParaRPr dirty="0"/>
          </a:p>
        </p:txBody>
      </p:sp>
      <p:sp>
        <p:nvSpPr>
          <p:cNvPr id="187" name="Google Shape;187;p18"/>
          <p:cNvSpPr txBox="1"/>
          <p:nvPr/>
        </p:nvSpPr>
        <p:spPr>
          <a:xfrm>
            <a:off x="6524625" y="4359771"/>
            <a:ext cx="2190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위치 (Location)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9239250" y="3788271"/>
            <a:ext cx="2190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21.0%</a:t>
            </a:r>
            <a:endParaRPr dirty="0"/>
          </a:p>
        </p:txBody>
      </p:sp>
      <p:sp>
        <p:nvSpPr>
          <p:cNvPr id="189" name="Google Shape;189;p18"/>
          <p:cNvSpPr txBox="1"/>
          <p:nvPr/>
        </p:nvSpPr>
        <p:spPr>
          <a:xfrm>
            <a:off x="9239250" y="4359771"/>
            <a:ext cx="2190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내부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스펙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(Spec)</a:t>
            </a:r>
            <a:endParaRPr dirty="0"/>
          </a:p>
        </p:txBody>
      </p:sp>
      <p:sp>
        <p:nvSpPr>
          <p:cNvPr id="190" name="Google Shape;190;p18"/>
          <p:cNvSpPr txBox="1"/>
          <p:nvPr/>
        </p:nvSpPr>
        <p:spPr>
          <a:xfrm>
            <a:off x="6524625" y="5083671"/>
            <a:ext cx="2190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13.1%</a:t>
            </a:r>
            <a:endParaRPr dirty="0"/>
          </a:p>
        </p:txBody>
      </p:sp>
      <p:sp>
        <p:nvSpPr>
          <p:cNvPr id="191" name="Google Shape;191;p18"/>
          <p:cNvSpPr txBox="1"/>
          <p:nvPr/>
        </p:nvSpPr>
        <p:spPr>
          <a:xfrm>
            <a:off x="6524625" y="5655171"/>
            <a:ext cx="2190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리뷰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평점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(Review)</a:t>
            </a:r>
            <a:endParaRPr dirty="0"/>
          </a:p>
        </p:txBody>
      </p:sp>
      <p:sp>
        <p:nvSpPr>
          <p:cNvPr id="192" name="Google Shape;192;p18"/>
          <p:cNvSpPr txBox="1"/>
          <p:nvPr/>
        </p:nvSpPr>
        <p:spPr>
          <a:xfrm>
            <a:off x="9239250" y="5083671"/>
            <a:ext cx="2190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9.2%</a:t>
            </a:r>
            <a:endParaRPr dirty="0"/>
          </a:p>
        </p:txBody>
      </p:sp>
      <p:sp>
        <p:nvSpPr>
          <p:cNvPr id="193" name="Google Shape;193;p18"/>
          <p:cNvSpPr txBox="1"/>
          <p:nvPr/>
        </p:nvSpPr>
        <p:spPr>
          <a:xfrm>
            <a:off x="9239250" y="5655171"/>
            <a:ext cx="2190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 속성 (Host)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위치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vs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내부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조건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: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무엇이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더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중요한가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?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7A474E-52A9-8388-47A7-B6017E1189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675" y="1909018"/>
            <a:ext cx="5938575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9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270063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개별 변수 영향력 분석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4950321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Top 20 변수 중 %가 역 거리 변수 — 입지가 가격의 핵심 결정자</a:t>
            </a:r>
          </a:p>
        </p:txBody>
      </p:sp>
      <p:sp>
        <p:nvSpPr>
          <p:cNvPr id="163" name="Google Shape;163;p17"/>
          <p:cNvSpPr txBox="1"/>
          <p:nvPr/>
        </p:nvSpPr>
        <p:spPr>
          <a:xfrm>
            <a:off x="857250" y="3253085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1위: 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</a:t>
            </a:r>
            <a:r>
              <a:rPr lang="ko-KR" altLang="en-US" sz="1350" b="1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쿄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역까지의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거리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비즈니스·환승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거점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연중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안정적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수요</a:t>
            </a:r>
            <a:endParaRPr dirty="0"/>
          </a:p>
        </p:txBody>
      </p:sp>
      <p:sp>
        <p:nvSpPr>
          <p:cNvPr id="164" name="Google Shape;164;p17"/>
          <p:cNvSpPr txBox="1"/>
          <p:nvPr/>
        </p:nvSpPr>
        <p:spPr>
          <a:xfrm>
            <a:off x="857250" y="3646437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2위: </a:t>
            </a:r>
            <a:r>
              <a:rPr lang="ko-KR" altLang="en-US" sz="1350" b="1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시부야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역까지의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거리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관광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수요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집중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접근성이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가격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프리미엄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857250" y="4087415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3위: 수용 인원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인원 증가 시 가격 상승, 그룹 수요 프리미엄</a:t>
            </a:r>
            <a:endParaRPr dirty="0"/>
          </a:p>
        </p:txBody>
      </p:sp>
      <p:sp>
        <p:nvSpPr>
          <p:cNvPr id="166" name="Google Shape;166;p17"/>
          <p:cNvSpPr txBox="1"/>
          <p:nvPr/>
        </p:nvSpPr>
        <p:spPr>
          <a:xfrm>
            <a:off x="857250" y="4504580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위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공시지가 </a:t>
            </a:r>
            <a:r>
              <a:rPr lang="en-US" altLang="ko-KR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— </a:t>
            </a:r>
            <a:r>
              <a:rPr lang="ko-KR" altLang="en-US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땅값이 비쌀수록 숙박가격도 높다</a:t>
            </a:r>
            <a:endParaRPr dirty="0"/>
          </a:p>
        </p:txBody>
      </p:sp>
      <p:sp>
        <p:nvSpPr>
          <p:cNvPr id="167" name="Google Shape;167;p17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가격을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결정하는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핵심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요인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Top 20</a:t>
            </a:r>
            <a:endParaRPr dirty="0"/>
          </a:p>
        </p:txBody>
      </p:sp>
      <p:pic>
        <p:nvPicPr>
          <p:cNvPr id="169" name="Google Shape;16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27350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41686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58411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0951" y="4552805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98E7700-4227-4AB5-8E56-DDFDB441F6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6306" y="1907679"/>
            <a:ext cx="6202012" cy="472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584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>
          <a:extLst>
            <a:ext uri="{FF2B5EF4-FFF2-40B4-BE49-F238E27FC236}">
              <a16:creationId xmlns:a16="http://schemas.microsoft.com/office/drawing/2014/main" id="{05E1DF1F-845D-FEC4-269A-D741788AF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>
            <a:extLst>
              <a:ext uri="{FF2B5EF4-FFF2-40B4-BE49-F238E27FC236}">
                <a16:creationId xmlns:a16="http://schemas.microsoft.com/office/drawing/2014/main" id="{CB90CB92-4917-9E69-FCA0-59A55DC384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>
            <a:extLst>
              <a:ext uri="{FF2B5EF4-FFF2-40B4-BE49-F238E27FC236}">
                <a16:creationId xmlns:a16="http://schemas.microsoft.com/office/drawing/2014/main" id="{5EED5032-7440-3EBA-30ED-ABDF7E4A6D8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>
            <a:extLst>
              <a:ext uri="{FF2B5EF4-FFF2-40B4-BE49-F238E27FC236}">
                <a16:creationId xmlns:a16="http://schemas.microsoft.com/office/drawing/2014/main" id="{7A3995E4-BCA2-7C22-6D8C-D0B77209197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07477"/>
            <a:ext cx="5286375" cy="120774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>
            <a:extLst>
              <a:ext uri="{FF2B5EF4-FFF2-40B4-BE49-F238E27FC236}">
                <a16:creationId xmlns:a16="http://schemas.microsoft.com/office/drawing/2014/main" id="{FD423D9D-629E-7109-9812-F6712519A5FF}"/>
              </a:ext>
            </a:extLst>
          </p:cNvPr>
          <p:cNvSpPr txBox="1"/>
          <p:nvPr/>
        </p:nvSpPr>
        <p:spPr>
          <a:xfrm>
            <a:off x="571500" y="1779764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1" dirty="0">
                <a:solidFill>
                  <a:srgbClr val="3B82F6"/>
                </a:solidFill>
                <a:latin typeface="Noto Sans KR"/>
                <a:ea typeface="Noto Sans KR"/>
                <a:sym typeface="Noto Sans KR"/>
              </a:rPr>
              <a:t>지역별 평균 숙소 가격 지도</a:t>
            </a:r>
            <a:endParaRPr dirty="0"/>
          </a:p>
        </p:txBody>
      </p:sp>
      <p:sp>
        <p:nvSpPr>
          <p:cNvPr id="206" name="Google Shape;206;p19">
            <a:extLst>
              <a:ext uri="{FF2B5EF4-FFF2-40B4-BE49-F238E27FC236}">
                <a16:creationId xmlns:a16="http://schemas.microsoft.com/office/drawing/2014/main" id="{F982DAC9-9E2E-2C5A-E5D3-27E49430A2E0}"/>
              </a:ext>
            </a:extLst>
          </p:cNvPr>
          <p:cNvSpPr txBox="1"/>
          <p:nvPr/>
        </p:nvSpPr>
        <p:spPr>
          <a:xfrm>
            <a:off x="866775" y="2616845"/>
            <a:ext cx="50006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최고가 지역은 최저가 대비 약 </a:t>
            </a:r>
            <a:r>
              <a:rPr lang="en-US" altLang="ko-KR" sz="1350" b="1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2.7</a:t>
            </a:r>
            <a:r>
              <a:rPr lang="ko-KR" altLang="en-US" sz="1350" b="1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배</a:t>
            </a:r>
            <a:endParaRPr dirty="0"/>
          </a:p>
        </p:txBody>
      </p:sp>
      <p:sp>
        <p:nvSpPr>
          <p:cNvPr id="207" name="Google Shape;207;p19">
            <a:extLst>
              <a:ext uri="{FF2B5EF4-FFF2-40B4-BE49-F238E27FC236}">
                <a16:creationId xmlns:a16="http://schemas.microsoft.com/office/drawing/2014/main" id="{D437964D-D404-33BE-DC9D-F46DB0BFE0B1}"/>
              </a:ext>
            </a:extLst>
          </p:cNvPr>
          <p:cNvSpPr txBox="1"/>
          <p:nvPr/>
        </p:nvSpPr>
        <p:spPr>
          <a:xfrm>
            <a:off x="866774" y="3212032"/>
            <a:ext cx="50006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ko-KR" altLang="en-US" b="1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고가 지역은 도심 동남부에 집중</a:t>
            </a:r>
            <a:endParaRPr lang="ko-KR" altLang="en-US" dirty="0"/>
          </a:p>
        </p:txBody>
      </p:sp>
      <p:sp>
        <p:nvSpPr>
          <p:cNvPr id="208" name="Google Shape;208;p19">
            <a:extLst>
              <a:ext uri="{FF2B5EF4-FFF2-40B4-BE49-F238E27FC236}">
                <a16:creationId xmlns:a16="http://schemas.microsoft.com/office/drawing/2014/main" id="{42C8DBD5-74A3-7A9B-425B-E5E39564BD2E}"/>
              </a:ext>
            </a:extLst>
          </p:cNvPr>
          <p:cNvSpPr txBox="1"/>
          <p:nvPr/>
        </p:nvSpPr>
        <p:spPr>
          <a:xfrm>
            <a:off x="846533" y="3826631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외곽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서쪽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갈수록 가격 급락</a:t>
            </a:r>
            <a:endParaRPr dirty="0"/>
          </a:p>
        </p:txBody>
      </p:sp>
      <p:sp>
        <p:nvSpPr>
          <p:cNvPr id="209" name="Google Shape;209;p19">
            <a:extLst>
              <a:ext uri="{FF2B5EF4-FFF2-40B4-BE49-F238E27FC236}">
                <a16:creationId xmlns:a16="http://schemas.microsoft.com/office/drawing/2014/main" id="{53F9FFF9-B046-3B53-B3C4-0B6F2F77A96E}"/>
              </a:ext>
            </a:extLst>
          </p:cNvPr>
          <p:cNvSpPr txBox="1"/>
          <p:nvPr/>
        </p:nvSpPr>
        <p:spPr>
          <a:xfrm>
            <a:off x="846533" y="5138992"/>
            <a:ext cx="46958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B82F6"/>
                </a:solidFill>
                <a:latin typeface="Noto Sans KR"/>
                <a:ea typeface="Noto Sans KR"/>
                <a:sym typeface="Noto Sans KR"/>
              </a:rPr>
              <a:t>도심지 접근성과 가격 사이에서 타협점을 찾는 것이 중요</a:t>
            </a:r>
            <a:endParaRPr dirty="0"/>
          </a:p>
        </p:txBody>
      </p:sp>
      <p:sp>
        <p:nvSpPr>
          <p:cNvPr id="210" name="Google Shape;210;p19">
            <a:extLst>
              <a:ext uri="{FF2B5EF4-FFF2-40B4-BE49-F238E27FC236}">
                <a16:creationId xmlns:a16="http://schemas.microsoft.com/office/drawing/2014/main" id="{0FF441A5-6825-8DFC-9DE3-153F59494EFD}"/>
              </a:ext>
            </a:extLst>
          </p:cNvPr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도쿄 중심부</a:t>
            </a: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에 집중된 초고가 숙소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2" name="Google Shape;212;p19" descr="image.png">
            <a:extLst>
              <a:ext uri="{FF2B5EF4-FFF2-40B4-BE49-F238E27FC236}">
                <a16:creationId xmlns:a16="http://schemas.microsoft.com/office/drawing/2014/main" id="{4D40050E-89B0-3D02-DCFB-9FE371F55E2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4463" y="2715840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>
            <a:extLst>
              <a:ext uri="{FF2B5EF4-FFF2-40B4-BE49-F238E27FC236}">
                <a16:creationId xmlns:a16="http://schemas.microsoft.com/office/drawing/2014/main" id="{3EC1C82A-C514-7652-F711-8DFCED0182F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4462" y="3312580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image.png">
            <a:extLst>
              <a:ext uri="{FF2B5EF4-FFF2-40B4-BE49-F238E27FC236}">
                <a16:creationId xmlns:a16="http://schemas.microsoft.com/office/drawing/2014/main" id="{8EAD0760-EB7E-D5AD-E6FD-A74B270FE18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0285" y="3923116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1B6FDD3-1F40-C235-627F-10E76B5A18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0127" y="1909018"/>
            <a:ext cx="597631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24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48373"/>
            <a:ext cx="5286375" cy="120774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571500" y="2314872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역에서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멀어질수록</a:t>
            </a:r>
            <a:r>
              <a:rPr lang="en-US" altLang="ko-KR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?</a:t>
            </a:r>
            <a:endParaRPr dirty="0"/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2867322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내부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스펙을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동일하게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고정하고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역까지의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거리만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변화시킨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공시지가 대비 숙박비가 높게 나오는 구간이 나왔습니다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206" name="Google Shape;206;p19"/>
          <p:cNvSpPr txBox="1"/>
          <p:nvPr/>
        </p:nvSpPr>
        <p:spPr>
          <a:xfrm>
            <a:off x="857250" y="3587353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0.0 ~ </a:t>
            </a:r>
            <a:r>
              <a:rPr lang="en-US" sz="1350" b="1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1.0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km: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완만한 효율 상승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숙박비 대비 매입 비용 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207" name="Google Shape;207;p19"/>
          <p:cNvSpPr txBox="1"/>
          <p:nvPr/>
        </p:nvSpPr>
        <p:spPr>
          <a:xfrm>
            <a:off x="857250" y="4004518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1.0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~ 1.25km: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3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최적 구간 </a:t>
            </a:r>
            <a:r>
              <a:rPr lang="en-US" altLang="ko-KR" sz="13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3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효율 최고</a:t>
            </a:r>
            <a:r>
              <a:rPr lang="en-US" altLang="ko-KR" sz="13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208" name="Google Shape;208;p19"/>
          <p:cNvSpPr txBox="1"/>
          <p:nvPr/>
        </p:nvSpPr>
        <p:spPr>
          <a:xfrm>
            <a:off x="857250" y="4421683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1.25km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이상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하락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세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소비자에게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외곽으로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인식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209" name="Google Shape;209;p19"/>
          <p:cNvSpPr txBox="1"/>
          <p:nvPr/>
        </p:nvSpPr>
        <p:spPr>
          <a:xfrm>
            <a:off x="866775" y="5315098"/>
            <a:ext cx="46958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결론</a:t>
            </a:r>
            <a:r>
              <a:rPr lang="en-US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: 1.0~  </a:t>
            </a:r>
            <a:r>
              <a:rPr lang="en-US" sz="1350" b="1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1.25k</a:t>
            </a:r>
            <a:r>
              <a:rPr lang="en-US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m </a:t>
            </a:r>
            <a:r>
              <a:rPr lang="ko-KR" altLang="en-US" sz="1350" b="1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구간에서</a:t>
            </a:r>
            <a:r>
              <a:rPr lang="en-US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숙소</a:t>
            </a:r>
            <a:r>
              <a:rPr lang="en-US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확보가</a:t>
            </a:r>
            <a:r>
              <a:rPr lang="en-US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수익성</a:t>
            </a:r>
            <a:r>
              <a:rPr lang="ko-KR" altLang="en-US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이 좋다</a:t>
            </a:r>
            <a:r>
              <a:rPr lang="en-US" altLang="ko-KR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210" name="Google Shape;210;p19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역 거리별 수익 효율 비교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2" name="Google Shape;21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87365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6096" y="4073802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6144" y="449594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73AE4E8-67D7-1CA3-0917-A263B5DC95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5531" y="1769862"/>
            <a:ext cx="6114544" cy="44254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6334125" y="1909018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효율적인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지역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전략</a:t>
            </a:r>
            <a:endParaRPr dirty="0"/>
          </a:p>
        </p:txBody>
      </p:sp>
      <p:sp>
        <p:nvSpPr>
          <p:cNvPr id="223" name="Google Shape;223;p20"/>
          <p:cNvSpPr txBox="1"/>
          <p:nvPr/>
        </p:nvSpPr>
        <p:spPr>
          <a:xfrm>
            <a:off x="6334124" y="2351038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시부야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미나토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같은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초고가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지역보다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전략적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고가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투자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효율이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높습니다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graphicFrame>
        <p:nvGraphicFramePr>
          <p:cNvPr id="224" name="Google Shape;224;p20"/>
          <p:cNvGraphicFramePr/>
          <p:nvPr>
            <p:extLst>
              <p:ext uri="{D42A27DB-BD31-4B8C-83A1-F6EECF244321}">
                <p14:modId xmlns:p14="http://schemas.microsoft.com/office/powerpoint/2010/main" val="455148609"/>
              </p:ext>
            </p:extLst>
          </p:nvPr>
        </p:nvGraphicFramePr>
        <p:xfrm>
          <a:off x="6334125" y="3371093"/>
          <a:ext cx="5550693" cy="1971700"/>
        </p:xfrm>
        <a:graphic>
          <a:graphicData uri="http://schemas.openxmlformats.org/drawingml/2006/table">
            <a:tbl>
              <a:tblPr firstRow="1" bandRow="1">
                <a:noFill/>
                <a:tableStyleId>{7FE19FE0-7E50-4F79-8B4B-5D965F6DAC54}</a:tableStyleId>
              </a:tblPr>
              <a:tblGrid>
                <a:gridCol w="1528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2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sym typeface="Noto Sans KR"/>
                        </a:rPr>
                        <a:t>공시지가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숙박가격                     효  율             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sym typeface="Noto Sans KR"/>
                        </a:rPr>
                        <a:t>초고가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231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만엔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19,832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엔                    </a:t>
                      </a:r>
                      <a:r>
                        <a:rPr lang="en-US" altLang="ko-KR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85.8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고가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126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만엔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15,157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엔                   </a:t>
                      </a:r>
                      <a:r>
                        <a:rPr lang="en-US" altLang="ko-KR" sz="1200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120.3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sym typeface="Noto Sans KR"/>
                        </a:rPr>
                        <a:t>중위권</a:t>
                      </a:r>
                      <a:endParaRPr b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136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만엔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r>
                        <a:rPr lang="en-US" altLang="ko-KR" sz="1200" b="0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4,357</a:t>
                      </a:r>
                      <a:r>
                        <a:rPr lang="ko-KR" altLang="en-US" sz="1200" b="0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엔                   </a:t>
                      </a:r>
                      <a:r>
                        <a:rPr lang="en-US" altLang="ko-KR" sz="1200" b="1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105.5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5" name="Google Shape;225;p20"/>
          <p:cNvSpPr txBox="1"/>
          <p:nvPr/>
        </p:nvSpPr>
        <p:spPr>
          <a:xfrm>
            <a:off x="6334124" y="5408754"/>
            <a:ext cx="5432496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하위권 </a:t>
            </a:r>
            <a:r>
              <a:rPr lang="en-US" altLang="ko-KR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— 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 관광객 대부분이 </a:t>
            </a:r>
            <a:r>
              <a:rPr lang="ko-KR" alt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야마노테선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내권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안에서 이동하는 특성상 외곽은 </a:t>
            </a:r>
            <a:r>
              <a:rPr lang="ko-KR" alt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에어비앤비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수요 </a:t>
            </a:r>
            <a:r>
              <a:rPr lang="ko-KR" alt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모수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자체가 다름</a:t>
            </a:r>
            <a:endParaRPr lang="en-US" altLang="ko-KR" sz="1100" b="0" i="0" u="none" strike="noStrike" cap="none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100" b="0" i="0" u="none" strike="noStrike" cap="none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초고가 제외고가 지역 대비 공시지가는 </a:t>
            </a:r>
            <a:r>
              <a:rPr lang="en-US" altLang="ko-KR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45% 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저렴하지만 숙박가격은 </a:t>
            </a:r>
            <a:r>
              <a:rPr lang="en-US" altLang="ko-KR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24% 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밖에 차이 </a:t>
            </a:r>
            <a:r>
              <a:rPr lang="ko-KR" alt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안남</a:t>
            </a:r>
            <a:endParaRPr dirty="0"/>
          </a:p>
        </p:txBody>
      </p:sp>
      <p:sp>
        <p:nvSpPr>
          <p:cNvPr id="226" name="Google Shape;226;p20"/>
          <p:cNvSpPr/>
          <p:nvPr/>
        </p:nvSpPr>
        <p:spPr>
          <a:xfrm>
            <a:off x="6334125" y="4356943"/>
            <a:ext cx="14553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7789515" y="4356943"/>
            <a:ext cx="17448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9534376" y="4356943"/>
            <a:ext cx="2086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6334125" y="4852243"/>
            <a:ext cx="14553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7789515" y="4852243"/>
            <a:ext cx="17448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9534376" y="4852243"/>
            <a:ext cx="2086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6334125" y="5347543"/>
            <a:ext cx="14553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7789515" y="5347543"/>
            <a:ext cx="17448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534376" y="5347543"/>
            <a:ext cx="2086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투자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효율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스위트스팟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: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고가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지역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vs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초고가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지역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43B89B-BE38-ACC7-C431-584ED6F79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084" y="1538292"/>
            <a:ext cx="6028797" cy="50277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581650"/>
            <a:ext cx="1104900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647825"/>
            <a:ext cx="5818882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104757" y="1647825"/>
            <a:ext cx="451574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수용인원 3→4인 확장: </a:t>
            </a: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+3,198엔</a:t>
            </a: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압도적 1위 전략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104757" y="2019300"/>
            <a:ext cx="451574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수용인원 2→3인 확장: </a:t>
            </a: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+1,067엔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104757" y="2390775"/>
            <a:ext cx="451574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1침실 → 2침실: </a:t>
            </a: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+446엔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104757" y="2762250"/>
            <a:ext cx="451574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Entire vs Private: </a:t>
            </a: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+367엔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104757" y="3133725"/>
            <a:ext cx="451574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역 500m vs 1km: </a:t>
            </a: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+350엔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104757" y="3505200"/>
            <a:ext cx="451574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슈퍼호스트: </a:t>
            </a: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+68엔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3810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머신러닝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기반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핵심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변수별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순수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가격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기여도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571500" y="10763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교란변수를 통제한 순수 효과</a:t>
            </a:r>
            <a:endParaRPr/>
          </a:p>
        </p:txBody>
      </p:sp>
      <p:pic>
        <p:nvPicPr>
          <p:cNvPr id="95" name="Google Shape;95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1382" y="1666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1382" y="20383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1382" y="2409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1382" y="2781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1382" y="31527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1382" y="35242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AA725F6-47F3-45C9-1CE5-BEC5BBE269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824" y="1485899"/>
            <a:ext cx="6265432" cy="39719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124577"/>
            <a:ext cx="110490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647825"/>
            <a:ext cx="5818882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1382" y="1647825"/>
            <a:ext cx="4849117" cy="2326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1382" y="4164806"/>
            <a:ext cx="4849117" cy="186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571500" y="3810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내부스펙에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따른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가격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차이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분석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571500" y="10763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방 유형 · 수용인원 — 모델 기반 예측 단가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009507" y="1885950"/>
            <a:ext cx="4372867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방 </a:t>
            </a:r>
            <a:r>
              <a:rPr lang="en-US" sz="1575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유형별</a:t>
            </a:r>
            <a:r>
              <a:rPr lang="en-US" sz="1575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75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예측</a:t>
            </a:r>
            <a:r>
              <a:rPr lang="en-US" sz="1575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75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단가</a:t>
            </a:r>
            <a:r>
              <a:rPr lang="en-US" sz="1575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7009507" y="2349400"/>
            <a:ext cx="4372867" cy="284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Entire home/apt: 14,180엔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009507" y="2811660"/>
            <a:ext cx="4372867" cy="284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Private room: 13,813엔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009507" y="3273921"/>
            <a:ext cx="4372867" cy="284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교란변수 통제 시 방 유형 차이는 +367엔으로 크지 않음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009507" y="4402931"/>
            <a:ext cx="4372867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수용인원별</a:t>
            </a:r>
            <a:r>
              <a:rPr lang="en-US" sz="1575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75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예측</a:t>
            </a:r>
            <a:r>
              <a:rPr lang="en-US" sz="1575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75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단가</a:t>
            </a:r>
            <a:r>
              <a:rPr lang="en-US" sz="1575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7009507" y="4866382"/>
            <a:ext cx="4372867" cy="284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2인 → 3인: </a:t>
            </a: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+1,067엔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009507" y="5328642"/>
            <a:ext cx="4372867" cy="284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3인 → 4인: </a:t>
            </a: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+3,198엔</a:t>
            </a: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→ </a:t>
            </a: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단가 급상승</a:t>
            </a: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2DCD2A-F071-C9A2-CD2C-D6AA4D99F6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966" y="1647824"/>
            <a:ext cx="6430945" cy="42405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7825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647825"/>
            <a:ext cx="5334000" cy="2123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961804"/>
            <a:ext cx="5334000" cy="176272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607695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* 모델 학습에 포함된 7개 어메니티 대상 분석. 단순 중앙값 분석에서 +3,375엔으로 보였던 엘리베이터는 위치 효과를 통제하자 오히려 음(-)의 순수 효과로 반전됨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524625" y="2349400"/>
            <a:ext cx="4857750" cy="284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세탁기(Washer): +489엔</a:t>
            </a: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어메니티 중 1위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524625" y="2710160"/>
            <a:ext cx="4857750" cy="284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주방(Kitchen): +286엔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524625" y="3070919"/>
            <a:ext cx="4857750" cy="284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셀프 체크인: +135엔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524625" y="4663380"/>
            <a:ext cx="4857750" cy="284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TV: +64엔, 에어컨: +23엔 (효과 미미)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524625" y="5024139"/>
            <a:ext cx="4857750" cy="284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와이파이: -49엔, 엘리베이터: -121엔 (역효과)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71500" y="3810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가성비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어메니티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투자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전략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571500" y="1076325"/>
            <a:ext cx="110490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고효율 vs 역효과 옵션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524625" y="188595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설치 권장 (순수 효과 +)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524625" y="4199929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효과 미미 / 역효과</a:t>
            </a: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7CFF81-00B4-B2D5-256B-4D6C979D9A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47826"/>
            <a:ext cx="55245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878115"/>
            <a:ext cx="10668000" cy="549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524000"/>
            <a:ext cx="3397150" cy="155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97275" y="1524000"/>
            <a:ext cx="3397299" cy="155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32700" y="1524000"/>
            <a:ext cx="3397150" cy="155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459360"/>
            <a:ext cx="5262562" cy="1042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67437" y="3459360"/>
            <a:ext cx="5262562" cy="1042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4644925"/>
            <a:ext cx="5262562" cy="1042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67437" y="4644925"/>
            <a:ext cx="5262562" cy="104268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1047750" y="6020990"/>
            <a:ext cx="10096500" cy="264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위치·시설·지가를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결합해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신규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호스트의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자본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효율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전략을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정량적으로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도출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마이닝의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실용적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적용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사례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dirty="0"/>
          </a:p>
        </p:txBody>
      </p:sp>
      <p:sp>
        <p:nvSpPr>
          <p:cNvPr id="192" name="Google Shape;192;p18"/>
          <p:cNvSpPr txBox="1"/>
          <p:nvPr/>
        </p:nvSpPr>
        <p:spPr>
          <a:xfrm>
            <a:off x="1400175" y="1857375"/>
            <a:ext cx="24637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최적</a:t>
            </a:r>
            <a:r>
              <a:rPr lang="en-US" sz="1599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입지</a:t>
            </a:r>
            <a:endParaRPr dirty="0"/>
          </a:p>
        </p:txBody>
      </p:sp>
      <p:sp>
        <p:nvSpPr>
          <p:cNvPr id="193" name="Google Shape;193;p18"/>
          <p:cNvSpPr txBox="1"/>
          <p:nvPr/>
        </p:nvSpPr>
        <p:spPr>
          <a:xfrm>
            <a:off x="1057275" y="2295525"/>
            <a:ext cx="2806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시나가와, 타이토, 스미다 등 고가~중위 지역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역으로부터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1.0km~1.25km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구간 매입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5064025" y="1857375"/>
            <a:ext cx="243527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필수 스펙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4692550" y="2295525"/>
            <a:ext cx="2806749" cy="59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수용인원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3~4인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침실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수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확대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세탁기</a:t>
            </a:r>
            <a:r>
              <a:rPr lang="en-US" altLang="ko-KR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</a:t>
            </a:r>
            <a:r>
              <a:rPr lang="ko-KR" alt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주방 등 고효율 </a:t>
            </a:r>
            <a:r>
              <a:rPr lang="ko-KR" alt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어메니티</a:t>
            </a:r>
            <a:r>
              <a:rPr lang="ko-KR" alt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선별</a:t>
            </a:r>
            <a:endParaRPr lang="en-US" altLang="ko-KR" sz="1200" b="0" i="0" u="none" strike="noStrike" cap="none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/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주차장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</a:t>
            </a:r>
            <a:r>
              <a:rPr lang="ko-KR" alt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엘레베이터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투자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배제</a:t>
            </a:r>
            <a:endParaRPr dirty="0"/>
          </a:p>
        </p:txBody>
      </p:sp>
      <p:sp>
        <p:nvSpPr>
          <p:cNvPr id="196" name="Google Shape;196;p18"/>
          <p:cNvSpPr txBox="1"/>
          <p:nvPr/>
        </p:nvSpPr>
        <p:spPr>
          <a:xfrm>
            <a:off x="8594675" y="1857375"/>
            <a:ext cx="25399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운영 전략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8327975" y="2295525"/>
            <a:ext cx="2806600" cy="395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공시지가 대비 효율 </a:t>
            </a:r>
            <a:r>
              <a:rPr lang="ko-KR" altLang="en-US" sz="120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극대화 입지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중가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숙소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타겟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고효율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운영</a:t>
            </a:r>
            <a:endParaRPr dirty="0"/>
          </a:p>
        </p:txBody>
      </p:sp>
      <p:sp>
        <p:nvSpPr>
          <p:cNvPr id="198" name="Google Shape;198;p18"/>
          <p:cNvSpPr txBox="1"/>
          <p:nvPr/>
        </p:nvSpPr>
        <p:spPr>
          <a:xfrm>
            <a:off x="962025" y="3659385"/>
            <a:ext cx="48625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① 신규 호스트 의사결정 지원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962025" y="4078485"/>
            <a:ext cx="4862512" cy="223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감에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의존하던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가격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책정을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기반으로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전환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초기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투자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리스크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감소</a:t>
            </a:r>
            <a:endParaRPr dirty="0"/>
          </a:p>
        </p:txBody>
      </p:sp>
      <p:sp>
        <p:nvSpPr>
          <p:cNvPr id="200" name="Google Shape;200;p18"/>
          <p:cNvSpPr txBox="1"/>
          <p:nvPr/>
        </p:nvSpPr>
        <p:spPr>
          <a:xfrm>
            <a:off x="6367462" y="3659385"/>
            <a:ext cx="48625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② 입지 선정 정량화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367462" y="4093071"/>
            <a:ext cx="4862512" cy="223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공시지가·역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거리·지역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프리미엄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결합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구간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제시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1.0~1.25km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스위트스팟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도출</a:t>
            </a:r>
            <a:endParaRPr dirty="0"/>
          </a:p>
        </p:txBody>
      </p:sp>
      <p:sp>
        <p:nvSpPr>
          <p:cNvPr id="202" name="Google Shape;202;p18"/>
          <p:cNvSpPr txBox="1"/>
          <p:nvPr/>
        </p:nvSpPr>
        <p:spPr>
          <a:xfrm>
            <a:off x="962025" y="4844950"/>
            <a:ext cx="48625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③ </a:t>
            </a:r>
            <a:r>
              <a:rPr lang="en-US" sz="15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시설</a:t>
            </a:r>
            <a:r>
              <a:rPr lang="en-US" sz="15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투자</a:t>
            </a:r>
            <a:r>
              <a:rPr lang="en-US" sz="15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우선순위</a:t>
            </a:r>
            <a:r>
              <a:rPr lang="en-US" sz="15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제공</a:t>
            </a:r>
            <a:endParaRPr dirty="0"/>
          </a:p>
        </p:txBody>
      </p:sp>
      <p:sp>
        <p:nvSpPr>
          <p:cNvPr id="203" name="Google Shape;203;p18"/>
          <p:cNvSpPr txBox="1"/>
          <p:nvPr/>
        </p:nvSpPr>
        <p:spPr>
          <a:xfrm>
            <a:off x="962025" y="5121175"/>
            <a:ext cx="4862512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세탁기</a:t>
            </a:r>
            <a:r>
              <a:rPr lang="en-US" altLang="ko-KR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주방 등 고효율 </a:t>
            </a:r>
            <a:r>
              <a:rPr lang="ko-KR" alt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어메니티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선별</a:t>
            </a:r>
            <a:r>
              <a:rPr lang="en-US" altLang="ko-KR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엘리베이터</a:t>
            </a:r>
            <a:r>
              <a:rPr lang="en-US" altLang="ko-KR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와이파이 등 순수 효과 미미 옵션 식별</a:t>
            </a:r>
            <a:endParaRPr lang="ko-KR" altLang="en-US" dirty="0"/>
          </a:p>
        </p:txBody>
      </p:sp>
      <p:sp>
        <p:nvSpPr>
          <p:cNvPr id="204" name="Google Shape;204;p18"/>
          <p:cNvSpPr txBox="1"/>
          <p:nvPr/>
        </p:nvSpPr>
        <p:spPr>
          <a:xfrm>
            <a:off x="6367462" y="4844950"/>
            <a:ext cx="48625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④ 향후 연구 확장 가능성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367462" y="5166269"/>
            <a:ext cx="4862512" cy="223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점유율·계절성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포함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시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수익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예측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모델로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발전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동적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수익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마련</a:t>
            </a:r>
            <a:endParaRPr dirty="0"/>
          </a:p>
        </p:txBody>
      </p:sp>
      <p:pic>
        <p:nvPicPr>
          <p:cNvPr id="206" name="Google Shape;206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57275" y="1903362"/>
            <a:ext cx="228600" cy="2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92550" y="1903362"/>
            <a:ext cx="257175" cy="2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327975" y="1903362"/>
            <a:ext cx="152400" cy="20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/>
        </p:nvSpPr>
        <p:spPr>
          <a:xfrm>
            <a:off x="457199" y="365670"/>
            <a:ext cx="7239837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종합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가이드라인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및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기대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효과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43575"/>
            <a:ext cx="110490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13470"/>
            <a:ext cx="5429250" cy="1726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813470"/>
            <a:ext cx="5429250" cy="1726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30823"/>
            <a:ext cx="5429250" cy="172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3730823"/>
            <a:ext cx="5429250" cy="1727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47625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연구의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한계점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향후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과제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103242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결과를 어디까지 일반화할 수 있는가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57250" y="5915025"/>
            <a:ext cx="10525125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그럼에도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—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위치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·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시설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·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지가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를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결합해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신규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호스트의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자본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효율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전략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을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정량적으로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도출한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데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의의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1077515" y="2219622"/>
            <a:ext cx="467558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범위 한정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19150" y="2619672"/>
            <a:ext cx="4933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"2~4인용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숙소로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범위를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제한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— 1인 ·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단체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·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대형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숙소에는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직접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적용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어려움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6697265" y="2235539"/>
            <a:ext cx="467558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2563EB"/>
                </a:solidFill>
                <a:latin typeface="Noto Sans KR"/>
                <a:ea typeface="Noto Sans KR"/>
                <a:sym typeface="Noto Sans KR"/>
              </a:rPr>
              <a:t>INPUT</a:t>
            </a:r>
            <a:r>
              <a:rPr lang="ko-KR" altLang="en-US" sz="1650" b="1" dirty="0">
                <a:solidFill>
                  <a:srgbClr val="2563EB"/>
                </a:solidFill>
                <a:latin typeface="Noto Sans KR"/>
                <a:ea typeface="Noto Sans KR"/>
                <a:sym typeface="Noto Sans KR"/>
              </a:rPr>
              <a:t> 선정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6448425" y="2560059"/>
            <a:ext cx="493395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“</a:t>
            </a:r>
            <a:r>
              <a:rPr lang="ko-KR" altLang="en-US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운영 수익성 산정에 필요한 초기 설비</a:t>
            </a:r>
            <a:r>
              <a:rPr lang="en-US" altLang="ko-KR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인테리어 비용</a:t>
            </a:r>
            <a:r>
              <a:rPr lang="en-US" altLang="ko-KR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관리비</a:t>
            </a:r>
            <a:r>
              <a:rPr lang="en-US" altLang="ko-KR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 수수료 등 부대비용 데이터가 부재하여 순수익 기반 분석에는 한계가 있음</a:t>
            </a:r>
            <a:r>
              <a:rPr lang="en-US" altLang="ko-KR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”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1077515" y="4153041"/>
            <a:ext cx="467558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1" i="0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부분의존성의 가정</a:t>
            </a:r>
            <a:endParaRPr dirty="0"/>
          </a:p>
        </p:txBody>
      </p:sp>
      <p:sp>
        <p:nvSpPr>
          <p:cNvPr id="131" name="Google Shape;131;p15"/>
          <p:cNvSpPr txBox="1"/>
          <p:nvPr/>
        </p:nvSpPr>
        <p:spPr>
          <a:xfrm>
            <a:off x="819150" y="4537174"/>
            <a:ext cx="4933950" cy="1258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부분의존성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(PD) 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분석은 변수 간 독립성을 가정하므로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실제로 상관된 변수들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예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수용인원과 침실 수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의 동시 변화 효과는 완전히 분리하기 어려움</a:t>
            </a:r>
            <a:r>
              <a:rPr lang="en-US" altLang="ko-KR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”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 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6697265" y="4153041"/>
            <a:ext cx="467558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시간</a:t>
            </a:r>
            <a:r>
              <a:rPr lang="en-US" sz="1650" b="1" i="0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50" b="1" i="0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변수</a:t>
            </a:r>
            <a:r>
              <a:rPr lang="en-US" sz="1650" b="1" i="0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650" b="1" i="0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및 </a:t>
            </a:r>
            <a:r>
              <a:rPr lang="ko-KR" altLang="en-US" sz="16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점유율 </a:t>
            </a:r>
            <a:r>
              <a:rPr lang="en-US" sz="1650" b="1" i="0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미포함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6438900" y="4537174"/>
            <a:ext cx="49339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계절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이벤트 효과 </a:t>
            </a:r>
            <a:r>
              <a:rPr lang="ko-KR" alt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미반영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— 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성수기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축제 등 시점별 가격 변동 및 실제 예약 점유율 데이터 부재로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정적 가격 기준의 분석에 한정됨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”</a:t>
            </a:r>
            <a:endParaRPr dirty="0"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2257722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900" y="2257722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4175224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900" y="4175224"/>
            <a:ext cx="16311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/>
        </p:nvSpPr>
        <p:spPr>
          <a:xfrm>
            <a:off x="295275" y="1379190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Thank You!</a:t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5619750" y="2541240"/>
            <a:ext cx="9525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571500" y="315084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및 답변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571500" y="458718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 에어비앤비 가격 결정 요인 분석 프로젝트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571500" y="5032920"/>
            <a:ext cx="11049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마이닝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조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FF66647-4B24-40F3-862D-3B9735CAA25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0921964-aec8-4fe5-9e9e-1651da44d2d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1623</Words>
  <Application>Microsoft Office PowerPoint</Application>
  <PresentationFormat>와이드스크린</PresentationFormat>
  <Paragraphs>191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Arial</vt:lpstr>
      <vt:lpstr>Calibri</vt:lpstr>
      <vt:lpstr>Poppins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강시현</cp:lastModifiedBy>
  <cp:revision>15</cp:revision>
  <dcterms:modified xsi:type="dcterms:W3CDTF">2026-06-04T18:11:36Z</dcterms:modified>
</cp:coreProperties>
</file>